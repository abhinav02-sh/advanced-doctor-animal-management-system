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497" r:id="rId3"/>
    <p:sldId id="499" r:id="rId4"/>
    <p:sldId id="507" r:id="rId5"/>
    <p:sldId id="500" r:id="rId6"/>
    <p:sldId id="508" r:id="rId7"/>
    <p:sldId id="501" r:id="rId8"/>
    <p:sldId id="502" r:id="rId9"/>
    <p:sldId id="511" r:id="rId10"/>
    <p:sldId id="503" r:id="rId11"/>
    <p:sldId id="506" r:id="rId12"/>
    <p:sldId id="509" r:id="rId13"/>
    <p:sldId id="269" r:id="rId14"/>
  </p:sldIdLst>
  <p:sldSz cx="9144000" cy="6858000" type="screen4x3"/>
  <p:notesSz cx="6761163" cy="99425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0AA"/>
    <a:srgbClr val="0066B3"/>
    <a:srgbClr val="E31E24"/>
    <a:srgbClr val="006CB4"/>
    <a:srgbClr val="E8303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8C8F52-F2F4-478B-82F5-C8133E3146C1}" v="320" dt="2025-02-10T16:48:01.13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6437" autoAdjust="0"/>
    <p:restoredTop sz="94660"/>
  </p:normalViewPr>
  <p:slideViewPr>
    <p:cSldViewPr>
      <p:cViewPr varScale="1">
        <p:scale>
          <a:sx n="67" d="100"/>
          <a:sy n="67" d="100"/>
        </p:scale>
        <p:origin x="1032" y="72"/>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29837" cy="498852"/>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29761" y="0"/>
            <a:ext cx="2929837" cy="498852"/>
          </a:xfrm>
          <a:prstGeom prst="rect">
            <a:avLst/>
          </a:prstGeom>
        </p:spPr>
        <p:txBody>
          <a:bodyPr vert="horz" lIns="91440" tIns="45720" rIns="91440" bIns="45720" rtlCol="0"/>
          <a:lstStyle>
            <a:lvl1pPr algn="r">
              <a:defRPr sz="1200"/>
            </a:lvl1pPr>
          </a:lstStyle>
          <a:p>
            <a:fld id="{42668431-CD35-4516-818D-B41B2C4843CF}" type="datetimeFigureOut">
              <a:rPr lang="en-IN" smtClean="0"/>
              <a:t>10-02-2025</a:t>
            </a:fld>
            <a:endParaRPr lang="en-IN"/>
          </a:p>
        </p:txBody>
      </p:sp>
      <p:sp>
        <p:nvSpPr>
          <p:cNvPr id="4" name="Slide Image Placeholder 3"/>
          <p:cNvSpPr>
            <a:spLocks noGrp="1" noRot="1" noChangeAspect="1"/>
          </p:cNvSpPr>
          <p:nvPr>
            <p:ph type="sldImg" idx="2"/>
          </p:nvPr>
        </p:nvSpPr>
        <p:spPr>
          <a:xfrm>
            <a:off x="1144588" y="1243013"/>
            <a:ext cx="4471987" cy="33559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76117" y="4784835"/>
            <a:ext cx="5408930" cy="3914864"/>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9443662"/>
            <a:ext cx="2929837" cy="498851"/>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29761" y="9443662"/>
            <a:ext cx="2929837" cy="498851"/>
          </a:xfrm>
          <a:prstGeom prst="rect">
            <a:avLst/>
          </a:prstGeom>
        </p:spPr>
        <p:txBody>
          <a:bodyPr vert="horz" lIns="91440" tIns="45720" rIns="91440" bIns="45720" rtlCol="0" anchor="b"/>
          <a:lstStyle>
            <a:lvl1pPr algn="r">
              <a:defRPr sz="1200"/>
            </a:lvl1pPr>
          </a:lstStyle>
          <a:p>
            <a:fld id="{DAB949B3-C4AB-4FB2-8B24-B07A558BD59F}" type="slidenum">
              <a:rPr lang="en-IN" smtClean="0"/>
              <a:t>‹#›</a:t>
            </a:fld>
            <a:endParaRPr lang="en-IN"/>
          </a:p>
        </p:txBody>
      </p:sp>
    </p:spTree>
    <p:extLst>
      <p:ext uri="{BB962C8B-B14F-4D97-AF65-F5344CB8AC3E}">
        <p14:creationId xmlns:p14="http://schemas.microsoft.com/office/powerpoint/2010/main" val="26765345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2</a:t>
            </a:fld>
            <a:endParaRPr lang="en-IN"/>
          </a:p>
        </p:txBody>
      </p:sp>
    </p:spTree>
    <p:extLst>
      <p:ext uri="{BB962C8B-B14F-4D97-AF65-F5344CB8AC3E}">
        <p14:creationId xmlns:p14="http://schemas.microsoft.com/office/powerpoint/2010/main" val="36356005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3</a:t>
            </a:fld>
            <a:endParaRPr lang="en-IN"/>
          </a:p>
        </p:txBody>
      </p:sp>
    </p:spTree>
    <p:extLst>
      <p:ext uri="{BB962C8B-B14F-4D97-AF65-F5344CB8AC3E}">
        <p14:creationId xmlns:p14="http://schemas.microsoft.com/office/powerpoint/2010/main" val="35466966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A50CB9-56DE-31B2-1098-9E71ADEDC8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A157ED-9196-070B-03D2-6FE6317058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E38988-A9A4-28F1-3031-903B0DC0FA0C}"/>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20DAD130-048E-2ECD-E747-13E1DC11F144}"/>
              </a:ext>
            </a:extLst>
          </p:cNvPr>
          <p:cNvSpPr>
            <a:spLocks noGrp="1"/>
          </p:cNvSpPr>
          <p:nvPr>
            <p:ph type="sldNum" sz="quarter" idx="5"/>
          </p:nvPr>
        </p:nvSpPr>
        <p:spPr/>
        <p:txBody>
          <a:bodyPr/>
          <a:lstStyle/>
          <a:p>
            <a:fld id="{DAB949B3-C4AB-4FB2-8B24-B07A558BD59F}" type="slidenum">
              <a:rPr lang="en-IN" smtClean="0"/>
              <a:t>4</a:t>
            </a:fld>
            <a:endParaRPr lang="en-IN"/>
          </a:p>
        </p:txBody>
      </p:sp>
    </p:spTree>
    <p:extLst>
      <p:ext uri="{BB962C8B-B14F-4D97-AF65-F5344CB8AC3E}">
        <p14:creationId xmlns:p14="http://schemas.microsoft.com/office/powerpoint/2010/main" val="13935656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5</a:t>
            </a:fld>
            <a:endParaRPr lang="en-IN"/>
          </a:p>
        </p:txBody>
      </p:sp>
    </p:spTree>
    <p:extLst>
      <p:ext uri="{BB962C8B-B14F-4D97-AF65-F5344CB8AC3E}">
        <p14:creationId xmlns:p14="http://schemas.microsoft.com/office/powerpoint/2010/main" val="41504681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D9CB42-67FF-A56C-05D1-F3CA77565C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29108E-4C40-8FA2-5882-5CAF979E37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C1E6B8-D38C-99EF-99AB-B9CFD6B0BBF2}"/>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24960A5D-F436-34AE-AEE7-EA596C7FBA4F}"/>
              </a:ext>
            </a:extLst>
          </p:cNvPr>
          <p:cNvSpPr>
            <a:spLocks noGrp="1"/>
          </p:cNvSpPr>
          <p:nvPr>
            <p:ph type="sldNum" sz="quarter" idx="5"/>
          </p:nvPr>
        </p:nvSpPr>
        <p:spPr/>
        <p:txBody>
          <a:bodyPr/>
          <a:lstStyle/>
          <a:p>
            <a:fld id="{DAB949B3-C4AB-4FB2-8B24-B07A558BD59F}" type="slidenum">
              <a:rPr lang="en-IN" smtClean="0"/>
              <a:t>6</a:t>
            </a:fld>
            <a:endParaRPr lang="en-IN"/>
          </a:p>
        </p:txBody>
      </p:sp>
    </p:spTree>
    <p:extLst>
      <p:ext uri="{BB962C8B-B14F-4D97-AF65-F5344CB8AC3E}">
        <p14:creationId xmlns:p14="http://schemas.microsoft.com/office/powerpoint/2010/main" val="9371805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7</a:t>
            </a:fld>
            <a:endParaRPr lang="en-IN"/>
          </a:p>
        </p:txBody>
      </p:sp>
    </p:spTree>
    <p:extLst>
      <p:ext uri="{BB962C8B-B14F-4D97-AF65-F5344CB8AC3E}">
        <p14:creationId xmlns:p14="http://schemas.microsoft.com/office/powerpoint/2010/main" val="31608931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8</a:t>
            </a:fld>
            <a:endParaRPr lang="en-IN"/>
          </a:p>
        </p:txBody>
      </p:sp>
    </p:spTree>
    <p:extLst>
      <p:ext uri="{BB962C8B-B14F-4D97-AF65-F5344CB8AC3E}">
        <p14:creationId xmlns:p14="http://schemas.microsoft.com/office/powerpoint/2010/main" val="16237544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C5026B-8AF0-EB4B-F537-A7C976F69D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B75A84-1C0D-B2EA-4633-337C614D29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CE0494-B3ED-E48A-4035-0935905024D3}"/>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95EAEEFB-59EE-62C4-0836-758C2818585A}"/>
              </a:ext>
            </a:extLst>
          </p:cNvPr>
          <p:cNvSpPr>
            <a:spLocks noGrp="1"/>
          </p:cNvSpPr>
          <p:nvPr>
            <p:ph type="sldNum" sz="quarter" idx="5"/>
          </p:nvPr>
        </p:nvSpPr>
        <p:spPr/>
        <p:txBody>
          <a:bodyPr/>
          <a:lstStyle/>
          <a:p>
            <a:fld id="{DAB949B3-C4AB-4FB2-8B24-B07A558BD59F}" type="slidenum">
              <a:rPr lang="en-IN" smtClean="0"/>
              <a:t>9</a:t>
            </a:fld>
            <a:endParaRPr lang="en-IN"/>
          </a:p>
        </p:txBody>
      </p:sp>
    </p:spTree>
    <p:extLst>
      <p:ext uri="{BB962C8B-B14F-4D97-AF65-F5344CB8AC3E}">
        <p14:creationId xmlns:p14="http://schemas.microsoft.com/office/powerpoint/2010/main" val="20491775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10</a:t>
            </a:fld>
            <a:endParaRPr lang="en-IN"/>
          </a:p>
        </p:txBody>
      </p:sp>
    </p:spTree>
    <p:extLst>
      <p:ext uri="{BB962C8B-B14F-4D97-AF65-F5344CB8AC3E}">
        <p14:creationId xmlns:p14="http://schemas.microsoft.com/office/powerpoint/2010/main" val="14696401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12</a:t>
            </a:fld>
            <a:endParaRPr lang="en-IN"/>
          </a:p>
        </p:txBody>
      </p:sp>
    </p:spTree>
    <p:extLst>
      <p:ext uri="{BB962C8B-B14F-4D97-AF65-F5344CB8AC3E}">
        <p14:creationId xmlns:p14="http://schemas.microsoft.com/office/powerpoint/2010/main" val="4183691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A80FAA-8FF1-CA16-503E-7EE1828F0E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ADDF11-2325-93C8-615C-4DD2EC242C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37C88F-6B42-67A0-95F1-7C89B0444CF9}"/>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258F2525-8EA6-D7F2-FEE2-460ED625C131}"/>
              </a:ext>
            </a:extLst>
          </p:cNvPr>
          <p:cNvSpPr>
            <a:spLocks noGrp="1"/>
          </p:cNvSpPr>
          <p:nvPr>
            <p:ph type="sldNum" sz="quarter" idx="5"/>
          </p:nvPr>
        </p:nvSpPr>
        <p:spPr/>
        <p:txBody>
          <a:bodyPr/>
          <a:lstStyle/>
          <a:p>
            <a:fld id="{DAB949B3-C4AB-4FB2-8B24-B07A558BD59F}" type="slidenum">
              <a:rPr lang="en-IN" smtClean="0"/>
              <a:t>13</a:t>
            </a:fld>
            <a:endParaRPr lang="en-IN"/>
          </a:p>
        </p:txBody>
      </p:sp>
    </p:spTree>
    <p:extLst>
      <p:ext uri="{BB962C8B-B14F-4D97-AF65-F5344CB8AC3E}">
        <p14:creationId xmlns:p14="http://schemas.microsoft.com/office/powerpoint/2010/main" val="18668879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F4AA89A1-F17A-4D3D-AC08-D16056C16514}" type="datetimeFigureOut">
              <a:rPr lang="en-IN" smtClean="0"/>
              <a:t>10-02-2025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19716174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4AA89A1-F17A-4D3D-AC08-D16056C16514}" type="datetimeFigureOut">
              <a:rPr lang="en-IN" smtClean="0"/>
              <a:t>10-02-2025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16711951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4AA89A1-F17A-4D3D-AC08-D16056C16514}" type="datetimeFigureOut">
              <a:rPr lang="en-IN" smtClean="0"/>
              <a:t>10-02-2025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40507170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F4AA89A1-F17A-4D3D-AC08-D16056C16514}" type="datetimeFigureOut">
              <a:rPr lang="en-IN" smtClean="0"/>
              <a:t>10-02-2025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40911858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F4AA89A1-F17A-4D3D-AC08-D16056C16514}" type="datetimeFigureOut">
              <a:rPr lang="en-IN" smtClean="0"/>
              <a:t>10-02-2025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24613015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F4AA89A1-F17A-4D3D-AC08-D16056C16514}" type="datetimeFigureOut">
              <a:rPr lang="en-IN" smtClean="0"/>
              <a:t>10-02-2025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17852406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4AA89A1-F17A-4D3D-AC08-D16056C16514}" type="datetimeFigureOut">
              <a:rPr lang="en-IN" smtClean="0"/>
              <a:t>10-02-2025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27517875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4AA89A1-F17A-4D3D-AC08-D16056C16514}" type="datetimeFigureOut">
              <a:rPr lang="en-IN" smtClean="0"/>
              <a:t>10-02-2025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19296799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4AA89A1-F17A-4D3D-AC08-D16056C16514}" type="datetimeFigureOut">
              <a:rPr lang="en-IN" smtClean="0"/>
              <a:t>10-02-2025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36868460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4AA89A1-F17A-4D3D-AC08-D16056C16514}" type="datetimeFigureOut">
              <a:rPr lang="en-IN" smtClean="0"/>
              <a:t>10-02-2025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3627557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4AA89A1-F17A-4D3D-AC08-D16056C16514}" type="datetimeFigureOut">
              <a:rPr lang="en-IN" smtClean="0"/>
              <a:t>10-02-2025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17953898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4AA89A1-F17A-4D3D-AC08-D16056C16514}" type="datetimeFigureOut">
              <a:rPr lang="en-IN" smtClean="0"/>
              <a:t>10-02-2025</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421C46D-3F04-4F73-BF36-E6D9DA5AE143}" type="slidenum">
              <a:rPr lang="en-IN" smtClean="0"/>
              <a:t>‹#›</a:t>
            </a:fld>
            <a:endParaRPr lang="en-IN"/>
          </a:p>
        </p:txBody>
      </p:sp>
    </p:spTree>
    <p:extLst>
      <p:ext uri="{BB962C8B-B14F-4D97-AF65-F5344CB8AC3E}">
        <p14:creationId xmlns:p14="http://schemas.microsoft.com/office/powerpoint/2010/main" val="40687599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PPT Admission Drive 2021-22-final-2_Page_01.jpg"/>
          <p:cNvPicPr>
            <a:picLocks noChangeAspect="1"/>
          </p:cNvPicPr>
          <p:nvPr/>
        </p:nvPicPr>
        <p:blipFill>
          <a:blip r:embed="rId2"/>
          <a:stretch>
            <a:fillRect/>
          </a:stretch>
        </p:blipFill>
        <p:spPr>
          <a:xfrm>
            <a:off x="0" y="0"/>
            <a:ext cx="9144000" cy="6850383"/>
          </a:xfrm>
          <a:prstGeom prst="rect">
            <a:avLst/>
          </a:prstGeom>
        </p:spPr>
      </p:pic>
    </p:spTree>
  </p:cSld>
  <p:clrMapOvr>
    <a:masterClrMapping/>
  </p:clrMapOvr>
  <p:transition>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54260" y="-27384"/>
            <a:ext cx="9180512" cy="6885384"/>
          </a:xfrm>
        </p:spPr>
      </p:pic>
      <p:cxnSp>
        <p:nvCxnSpPr>
          <p:cNvPr id="11" name="Straight Connector 10"/>
          <p:cNvCxnSpPr/>
          <p:nvPr/>
        </p:nvCxnSpPr>
        <p:spPr>
          <a:xfrm>
            <a:off x="1520415" y="2060848"/>
            <a:ext cx="6306546" cy="0"/>
          </a:xfrm>
          <a:prstGeom prst="line">
            <a:avLst/>
          </a:prstGeom>
        </p:spPr>
        <p:style>
          <a:lnRef idx="1">
            <a:schemeClr val="accent1"/>
          </a:lnRef>
          <a:fillRef idx="0">
            <a:schemeClr val="accent1"/>
          </a:fillRef>
          <a:effectRef idx="0">
            <a:schemeClr val="accent1"/>
          </a:effectRef>
          <a:fontRef idx="minor">
            <a:schemeClr val="tx1"/>
          </a:fontRef>
        </p:style>
      </p:cxnSp>
      <p:pic>
        <p:nvPicPr>
          <p:cNvPr id="12" name="Picture 1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370382" y="150274"/>
            <a:ext cx="6396065" cy="920873"/>
          </a:xfrm>
          <a:prstGeom prst="rect">
            <a:avLst/>
          </a:prstGeom>
        </p:spPr>
      </p:pic>
      <p:sp>
        <p:nvSpPr>
          <p:cNvPr id="13" name="TextBox 12"/>
          <p:cNvSpPr txBox="1"/>
          <p:nvPr/>
        </p:nvSpPr>
        <p:spPr>
          <a:xfrm>
            <a:off x="135968" y="2553290"/>
            <a:ext cx="8784976" cy="830997"/>
          </a:xfrm>
          <a:prstGeom prst="rect">
            <a:avLst/>
          </a:prstGeom>
          <a:noFill/>
        </p:spPr>
        <p:txBody>
          <a:bodyPr wrap="square" lIns="91440" tIns="45720" rIns="91440" bIns="45720" rtlCol="0" anchor="t">
            <a:spAutoFit/>
          </a:bodyPr>
          <a:lstStyle/>
          <a:p>
            <a:pPr algn="ctr">
              <a:buSzPct val="25000"/>
            </a:pPr>
            <a:r>
              <a:rPr lang="en-IN" sz="2400" b="1" dirty="0">
                <a:solidFill>
                  <a:srgbClr val="0070C0"/>
                </a:solidFill>
                <a:ea typeface="Cambria"/>
                <a:cs typeface="Times New Roman"/>
                <a:sym typeface="Arial"/>
              </a:rPr>
              <a:t>First Year Project Synopsis</a:t>
            </a:r>
          </a:p>
          <a:p>
            <a:pPr lvl="0" algn="ctr">
              <a:buSzPct val="25000"/>
            </a:pPr>
            <a:r>
              <a:rPr lang="en-IN" sz="2400" b="1" dirty="0">
                <a:solidFill>
                  <a:srgbClr val="0070C0"/>
                </a:solidFill>
                <a:ea typeface="Cambria" panose="02040503050406030204" pitchFamily="18" charset="0"/>
                <a:cs typeface="Times New Roman" panose="02020603050405020304" pitchFamily="18" charset="0"/>
                <a:sym typeface="Arial"/>
              </a:rPr>
              <a:t>Submitted by</a:t>
            </a:r>
          </a:p>
        </p:txBody>
      </p:sp>
      <p:graphicFrame>
        <p:nvGraphicFramePr>
          <p:cNvPr id="2" name="Table 2">
            <a:extLst>
              <a:ext uri="{FF2B5EF4-FFF2-40B4-BE49-F238E27FC236}">
                <a16:creationId xmlns:a16="http://schemas.microsoft.com/office/drawing/2014/main" id="{232DFD41-0025-28B4-FE3B-A54FAEE28F42}"/>
              </a:ext>
            </a:extLst>
          </p:cNvPr>
          <p:cNvGraphicFramePr>
            <a:graphicFrameLocks noGrp="1"/>
          </p:cNvGraphicFramePr>
          <p:nvPr>
            <p:extLst>
              <p:ext uri="{D42A27DB-BD31-4B8C-83A1-F6EECF244321}">
                <p14:modId xmlns:p14="http://schemas.microsoft.com/office/powerpoint/2010/main" val="4067962147"/>
              </p:ext>
            </p:extLst>
          </p:nvPr>
        </p:nvGraphicFramePr>
        <p:xfrm>
          <a:off x="1733243" y="3494953"/>
          <a:ext cx="6096000" cy="1483360"/>
        </p:xfrm>
        <a:graphic>
          <a:graphicData uri="http://schemas.openxmlformats.org/drawingml/2006/table">
            <a:tbl>
              <a:tblPr firstRow="1" bandRow="1">
                <a:tableStyleId>{5C22544A-7EE6-4342-B048-85BDC9FD1C3A}</a:tableStyleId>
              </a:tblPr>
              <a:tblGrid>
                <a:gridCol w="2947874">
                  <a:extLst>
                    <a:ext uri="{9D8B030D-6E8A-4147-A177-3AD203B41FA5}">
                      <a16:colId xmlns:a16="http://schemas.microsoft.com/office/drawing/2014/main" val="3537270469"/>
                    </a:ext>
                  </a:extLst>
                </a:gridCol>
                <a:gridCol w="3148126">
                  <a:extLst>
                    <a:ext uri="{9D8B030D-6E8A-4147-A177-3AD203B41FA5}">
                      <a16:colId xmlns:a16="http://schemas.microsoft.com/office/drawing/2014/main" val="3305024946"/>
                    </a:ext>
                  </a:extLst>
                </a:gridCol>
              </a:tblGrid>
              <a:tr h="370840">
                <a:tc>
                  <a:txBody>
                    <a:bodyPr/>
                    <a:lstStyle/>
                    <a:p>
                      <a:pPr algn="ctr"/>
                      <a:r>
                        <a:rPr lang="en-US" dirty="0"/>
                        <a:t>ROLL</a:t>
                      </a:r>
                    </a:p>
                  </a:txBody>
                  <a:tcPr/>
                </a:tc>
                <a:tc>
                  <a:txBody>
                    <a:bodyPr/>
                    <a:lstStyle/>
                    <a:p>
                      <a:pPr algn="ctr"/>
                      <a:r>
                        <a:rPr lang="en-US" dirty="0"/>
                        <a:t>NAME</a:t>
                      </a:r>
                    </a:p>
                  </a:txBody>
                  <a:tcPr/>
                </a:tc>
                <a:extLst>
                  <a:ext uri="{0D108BD9-81ED-4DB2-BD59-A6C34878D82A}">
                    <a16:rowId xmlns:a16="http://schemas.microsoft.com/office/drawing/2014/main" val="1765898331"/>
                  </a:ext>
                </a:extLst>
              </a:tr>
              <a:tr h="370840">
                <a:tc>
                  <a:txBody>
                    <a:bodyPr/>
                    <a:lstStyle/>
                    <a:p>
                      <a:r>
                        <a:rPr lang="en-US" dirty="0"/>
                        <a:t>2401730066</a:t>
                      </a:r>
                    </a:p>
                  </a:txBody>
                  <a:tcPr/>
                </a:tc>
                <a:tc>
                  <a:txBody>
                    <a:bodyPr/>
                    <a:lstStyle/>
                    <a:p>
                      <a:pPr lvl="0">
                        <a:buNone/>
                      </a:pPr>
                      <a:r>
                        <a:rPr lang="en-US" sz="1800" b="0" i="0" u="none" strike="noStrike" noProof="0" dirty="0">
                          <a:solidFill>
                            <a:srgbClr val="000000"/>
                          </a:solidFill>
                          <a:latin typeface="Calibri"/>
                        </a:rPr>
                        <a:t>ABHINAV</a:t>
                      </a:r>
                      <a:endParaRPr lang="en-US" dirty="0"/>
                    </a:p>
                  </a:txBody>
                  <a:tcPr/>
                </a:tc>
                <a:extLst>
                  <a:ext uri="{0D108BD9-81ED-4DB2-BD59-A6C34878D82A}">
                    <a16:rowId xmlns:a16="http://schemas.microsoft.com/office/drawing/2014/main" val="4176101868"/>
                  </a:ext>
                </a:extLst>
              </a:tr>
              <a:tr h="370840">
                <a:tc>
                  <a:txBody>
                    <a:bodyPr/>
                    <a:lstStyle/>
                    <a:p>
                      <a:r>
                        <a:rPr lang="en-US" dirty="0"/>
                        <a:t>2401730017</a:t>
                      </a:r>
                    </a:p>
                  </a:txBody>
                  <a:tcPr/>
                </a:tc>
                <a:tc>
                  <a:txBody>
                    <a:bodyPr/>
                    <a:lstStyle/>
                    <a:p>
                      <a:r>
                        <a:rPr lang="en-US" dirty="0"/>
                        <a:t>YUVRAJ</a:t>
                      </a:r>
                    </a:p>
                  </a:txBody>
                  <a:tcPr/>
                </a:tc>
                <a:extLst>
                  <a:ext uri="{0D108BD9-81ED-4DB2-BD59-A6C34878D82A}">
                    <a16:rowId xmlns:a16="http://schemas.microsoft.com/office/drawing/2014/main" val="1958206324"/>
                  </a:ext>
                </a:extLst>
              </a:tr>
              <a:tr h="370840">
                <a:tc>
                  <a:txBody>
                    <a:bodyPr/>
                    <a:lstStyle/>
                    <a:p>
                      <a:r>
                        <a:rPr lang="en-US" dirty="0"/>
                        <a:t>2401730027</a:t>
                      </a:r>
                    </a:p>
                  </a:txBody>
                  <a:tcPr/>
                </a:tc>
                <a:tc>
                  <a:txBody>
                    <a:bodyPr/>
                    <a:lstStyle/>
                    <a:p>
                      <a:pPr lvl="0">
                        <a:buNone/>
                      </a:pPr>
                      <a:r>
                        <a:rPr lang="en-US" sz="1800" b="0" i="0" u="none" strike="noStrike" noProof="0" dirty="0">
                          <a:solidFill>
                            <a:srgbClr val="000000"/>
                          </a:solidFill>
                          <a:latin typeface="Calibri"/>
                        </a:rPr>
                        <a:t>HEMANSHI</a:t>
                      </a:r>
                    </a:p>
                  </a:txBody>
                  <a:tcPr/>
                </a:tc>
                <a:extLst>
                  <a:ext uri="{0D108BD9-81ED-4DB2-BD59-A6C34878D82A}">
                    <a16:rowId xmlns:a16="http://schemas.microsoft.com/office/drawing/2014/main" val="441949598"/>
                  </a:ext>
                </a:extLst>
              </a:tr>
            </a:tbl>
          </a:graphicData>
        </a:graphic>
      </p:graphicFrame>
      <p:sp>
        <p:nvSpPr>
          <p:cNvPr id="5" name="TextBox 4">
            <a:extLst>
              <a:ext uri="{FF2B5EF4-FFF2-40B4-BE49-F238E27FC236}">
                <a16:creationId xmlns:a16="http://schemas.microsoft.com/office/drawing/2014/main" id="{3DF18845-4075-32C5-8F4A-4F40F86E837F}"/>
              </a:ext>
            </a:extLst>
          </p:cNvPr>
          <p:cNvSpPr txBox="1"/>
          <p:nvPr/>
        </p:nvSpPr>
        <p:spPr>
          <a:xfrm>
            <a:off x="395536" y="1212054"/>
            <a:ext cx="8136904" cy="1323439"/>
          </a:xfrm>
          <a:prstGeom prst="rect">
            <a:avLst/>
          </a:prstGeom>
          <a:noFill/>
        </p:spPr>
        <p:txBody>
          <a:bodyPr wrap="square">
            <a:spAutoFit/>
          </a:bodyPr>
          <a:lstStyle/>
          <a:p>
            <a:pPr lvl="0" algn="ctr">
              <a:buSzPct val="25000"/>
            </a:pPr>
            <a:r>
              <a:rPr lang="en-IN" sz="4000" b="1" dirty="0">
                <a:solidFill>
                  <a:srgbClr val="C00000"/>
                </a:solidFill>
                <a:highlight>
                  <a:srgbClr val="FFFF00"/>
                </a:highlight>
                <a:ea typeface="Cambria" panose="02040503050406030204" pitchFamily="18" charset="0"/>
                <a:cs typeface="Times New Roman" panose="02020603050405020304" pitchFamily="18" charset="0"/>
                <a:sym typeface="Arial"/>
              </a:rPr>
              <a:t>Project Title</a:t>
            </a:r>
            <a:r>
              <a:rPr lang="en-IN" sz="6000" b="1" dirty="0">
                <a:solidFill>
                  <a:srgbClr val="C00000"/>
                </a:solidFill>
                <a:highlight>
                  <a:srgbClr val="FFFF00"/>
                </a:highlight>
                <a:ea typeface="Cambria" panose="02040503050406030204" pitchFamily="18" charset="0"/>
                <a:cs typeface="Times New Roman" panose="02020603050405020304" pitchFamily="18" charset="0"/>
                <a:sym typeface="Arial"/>
              </a:rPr>
              <a:t> - </a:t>
            </a:r>
            <a:r>
              <a:rPr lang="en-IN" sz="2000" b="1" dirty="0">
                <a:solidFill>
                  <a:srgbClr val="C00000"/>
                </a:solidFill>
                <a:highlight>
                  <a:srgbClr val="FFFF00"/>
                </a:highlight>
                <a:ea typeface="Cambria" panose="02040503050406030204" pitchFamily="18" charset="0"/>
                <a:cs typeface="Times New Roman" panose="02020603050405020304" pitchFamily="18" charset="0"/>
                <a:sym typeface="Arial"/>
              </a:rPr>
              <a:t>ADVANCED DOCTOR ANIMAL MANAGEMENT SYSTEM(ADAMS)</a:t>
            </a:r>
          </a:p>
        </p:txBody>
      </p:sp>
      <p:sp>
        <p:nvSpPr>
          <p:cNvPr id="8" name="TextBox 7">
            <a:extLst>
              <a:ext uri="{FF2B5EF4-FFF2-40B4-BE49-F238E27FC236}">
                <a16:creationId xmlns:a16="http://schemas.microsoft.com/office/drawing/2014/main" id="{40D4C745-33B7-0116-E20F-11A7F0DFD46F}"/>
              </a:ext>
            </a:extLst>
          </p:cNvPr>
          <p:cNvSpPr txBox="1"/>
          <p:nvPr/>
        </p:nvSpPr>
        <p:spPr>
          <a:xfrm>
            <a:off x="236440" y="5733256"/>
            <a:ext cx="8584032" cy="646331"/>
          </a:xfrm>
          <a:prstGeom prst="rect">
            <a:avLst/>
          </a:prstGeom>
          <a:noFill/>
        </p:spPr>
        <p:txBody>
          <a:bodyPr wrap="square" lIns="91440" tIns="45720" rIns="91440" bIns="45720" anchor="t">
            <a:spAutoFit/>
          </a:bodyPr>
          <a:lstStyle/>
          <a:p>
            <a:pPr lvl="0">
              <a:buSzPct val="25000"/>
            </a:pPr>
            <a:endParaRPr lang="en-IN" sz="1800" b="1">
              <a:solidFill>
                <a:srgbClr val="0070C0"/>
              </a:solidFill>
              <a:ea typeface="Cambria" panose="02040503050406030204" pitchFamily="18" charset="0"/>
              <a:cs typeface="Times New Roman" panose="02020603050405020304" pitchFamily="18" charset="0"/>
            </a:endParaRPr>
          </a:p>
          <a:p>
            <a:pPr>
              <a:buSzPct val="25000"/>
            </a:pPr>
            <a:r>
              <a:rPr lang="en-IN" b="1" dirty="0">
                <a:solidFill>
                  <a:srgbClr val="0070C0"/>
                </a:solidFill>
                <a:ea typeface="Cambria"/>
                <a:cs typeface="Times New Roman"/>
                <a:sym typeface="Arial"/>
              </a:rPr>
              <a:t>Faculty Mentor:</a:t>
            </a:r>
            <a:r>
              <a:rPr lang="en-IN" sz="1800" b="1" dirty="0">
                <a:solidFill>
                  <a:srgbClr val="0070C0"/>
                </a:solidFill>
                <a:ea typeface="Cambria"/>
                <a:cs typeface="Times New Roman"/>
                <a:sym typeface="Arial"/>
              </a:rPr>
              <a:t> Dr.</a:t>
            </a:r>
            <a:r>
              <a:rPr lang="en-IN" b="1" dirty="0">
                <a:solidFill>
                  <a:srgbClr val="0070C0"/>
                </a:solidFill>
                <a:ea typeface="Cambria"/>
                <a:cs typeface="Times New Roman"/>
                <a:sym typeface="Arial"/>
              </a:rPr>
              <a:t> Ravinder Beniwal</a:t>
            </a:r>
            <a:endParaRPr lang="en-IN" sz="1800" b="1" dirty="0">
              <a:solidFill>
                <a:srgbClr val="0070C0"/>
              </a:solidFill>
              <a:ea typeface="Cambria"/>
              <a:cs typeface="Times New Roman"/>
            </a:endParaRPr>
          </a:p>
        </p:txBody>
      </p:sp>
    </p:spTree>
    <p:extLst>
      <p:ext uri="{BB962C8B-B14F-4D97-AF65-F5344CB8AC3E}">
        <p14:creationId xmlns:p14="http://schemas.microsoft.com/office/powerpoint/2010/main" val="41425364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p:cNvSpPr>
            <a:spLocks noChangeArrowheads="1"/>
          </p:cNvSpPr>
          <p:nvPr/>
        </p:nvSpPr>
        <p:spPr bwMode="auto">
          <a:xfrm>
            <a:off x="179512" y="151593"/>
            <a:ext cx="415370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Project Overview</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11" name="TextBox 10">
            <a:extLst>
              <a:ext uri="{FF2B5EF4-FFF2-40B4-BE49-F238E27FC236}">
                <a16:creationId xmlns:a16="http://schemas.microsoft.com/office/drawing/2014/main" id="{A5CFE4C8-2C7D-44BE-A7CA-8915F4D919BC}"/>
              </a:ext>
            </a:extLst>
          </p:cNvPr>
          <p:cNvSpPr txBox="1"/>
          <p:nvPr/>
        </p:nvSpPr>
        <p:spPr>
          <a:xfrm>
            <a:off x="395536" y="1489115"/>
            <a:ext cx="8352928" cy="3108543"/>
          </a:xfrm>
          <a:prstGeom prst="rect">
            <a:avLst/>
          </a:prstGeom>
          <a:noFill/>
        </p:spPr>
        <p:txBody>
          <a:bodyPr wrap="square">
            <a:spAutoFit/>
          </a:bodyPr>
          <a:lstStyle/>
          <a:p>
            <a:pPr algn="just"/>
            <a:r>
              <a:rPr lang="en-IN" sz="2800" dirty="0"/>
              <a:t>The project aims to optimize veterinary operations by integrating </a:t>
            </a:r>
            <a:r>
              <a:rPr lang="en-IN" sz="2800" b="1" dirty="0"/>
              <a:t>medication inventory management </a:t>
            </a:r>
            <a:r>
              <a:rPr lang="en-IN" sz="2800" dirty="0"/>
              <a:t>and</a:t>
            </a:r>
            <a:r>
              <a:rPr lang="en-IN" sz="2800" b="1" dirty="0"/>
              <a:t> animal healthcare records. </a:t>
            </a:r>
            <a:r>
              <a:rPr lang="en-IN" sz="2800" dirty="0"/>
              <a:t>It ensures timely notifications for low stock and expiring medications, maintains comprehensive animal medical histories, and streamlines workflow for more efficient and informed decision-making in animal care</a:t>
            </a:r>
          </a:p>
        </p:txBody>
      </p:sp>
    </p:spTree>
    <p:extLst>
      <p:ext uri="{BB962C8B-B14F-4D97-AF65-F5344CB8AC3E}">
        <p14:creationId xmlns:p14="http://schemas.microsoft.com/office/powerpoint/2010/main" val="33537842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0BCB9D-96AE-CB6E-9C36-46448345056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612461A6-C9CF-A279-E846-5AFA1CEF067A}"/>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B99D4242-71CF-DE3F-0B66-C21402FDCF6D}"/>
              </a:ext>
            </a:extLst>
          </p:cNvPr>
          <p:cNvSpPr>
            <a:spLocks noChangeArrowheads="1"/>
          </p:cNvSpPr>
          <p:nvPr/>
        </p:nvSpPr>
        <p:spPr bwMode="auto">
          <a:xfrm>
            <a:off x="179512" y="59260"/>
            <a:ext cx="4550156"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a:buSzPct val="25000"/>
            </a:pPr>
            <a:r>
              <a:rPr lang="en-US" sz="4400" dirty="0">
                <a:solidFill>
                  <a:prstClr val="black"/>
                </a:solidFill>
                <a:latin typeface="Calibri"/>
                <a:ea typeface="+mj-ea"/>
                <a:cs typeface="+mj-cs"/>
                <a:sym typeface="Arial"/>
              </a:rPr>
              <a:t>A</a:t>
            </a:r>
            <a:r>
              <a:rPr lang="en-IN" sz="4400" dirty="0">
                <a:solidFill>
                  <a:prstClr val="black"/>
                </a:solidFill>
                <a:latin typeface="Calibri"/>
                <a:ea typeface="+mj-ea"/>
                <a:cs typeface="+mj-cs"/>
                <a:sym typeface="Arial"/>
              </a:rPr>
              <a:t>bout the Problem</a:t>
            </a: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74824933-86C5-EFBA-36B9-358001A06AC0}"/>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9E3AE5FC-8649-27D3-900D-5F6329A7F4F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E099852-B907-412D-6E46-D21E628B3AD6}"/>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CA3DEF35-11EC-5059-39F1-AC5BCC365022}"/>
              </a:ext>
            </a:extLst>
          </p:cNvPr>
          <p:cNvSpPr txBox="1"/>
          <p:nvPr/>
        </p:nvSpPr>
        <p:spPr>
          <a:xfrm>
            <a:off x="755576" y="1484784"/>
            <a:ext cx="8208912" cy="2062103"/>
          </a:xfrm>
          <a:prstGeom prst="rect">
            <a:avLst/>
          </a:prstGeom>
          <a:noFill/>
        </p:spPr>
        <p:txBody>
          <a:bodyPr wrap="square" rtlCol="0">
            <a:spAutoFit/>
          </a:bodyPr>
          <a:lstStyle/>
          <a:p>
            <a:r>
              <a:rPr lang="en-US" sz="3200" dirty="0"/>
              <a:t>1.Medication Stock Management</a:t>
            </a:r>
          </a:p>
          <a:p>
            <a:r>
              <a:rPr lang="en-US" sz="3200" dirty="0"/>
              <a:t>2.Medicine Expiration Tracking</a:t>
            </a:r>
          </a:p>
          <a:p>
            <a:r>
              <a:rPr lang="en-US" sz="3200" dirty="0"/>
              <a:t>3.Fragmented Record-Keeping</a:t>
            </a:r>
          </a:p>
          <a:p>
            <a:r>
              <a:rPr lang="en-US" sz="3200" dirty="0"/>
              <a:t>4.Manual Monitoring</a:t>
            </a:r>
            <a:endParaRPr lang="en-IN" sz="3200" dirty="0"/>
          </a:p>
        </p:txBody>
      </p:sp>
    </p:spTree>
    <p:extLst>
      <p:ext uri="{BB962C8B-B14F-4D97-AF65-F5344CB8AC3E}">
        <p14:creationId xmlns:p14="http://schemas.microsoft.com/office/powerpoint/2010/main" val="36384035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p:cNvSpPr>
            <a:spLocks noChangeArrowheads="1"/>
          </p:cNvSpPr>
          <p:nvPr/>
        </p:nvSpPr>
        <p:spPr bwMode="auto">
          <a:xfrm>
            <a:off x="179512" y="151593"/>
            <a:ext cx="464742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Problem Statement</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412D7EC8-BFDC-C4B6-F5D1-9906B7D02893}"/>
              </a:ext>
            </a:extLst>
          </p:cNvPr>
          <p:cNvSpPr txBox="1"/>
          <p:nvPr/>
        </p:nvSpPr>
        <p:spPr>
          <a:xfrm>
            <a:off x="251520" y="1177005"/>
            <a:ext cx="8568952" cy="4708981"/>
          </a:xfrm>
          <a:prstGeom prst="rect">
            <a:avLst/>
          </a:prstGeom>
          <a:noFill/>
        </p:spPr>
        <p:txBody>
          <a:bodyPr wrap="square">
            <a:spAutoFit/>
          </a:bodyPr>
          <a:lstStyle/>
          <a:p>
            <a:pPr marL="457200" indent="-457200">
              <a:buAutoNum type="arabicPeriod"/>
            </a:pPr>
            <a:r>
              <a:rPr lang="en-US" sz="2000" b="1" dirty="0"/>
              <a:t>Medication Stock Management</a:t>
            </a:r>
          </a:p>
          <a:p>
            <a:r>
              <a:rPr lang="en-US" sz="2000" dirty="0"/>
              <a:t>•</a:t>
            </a:r>
            <a:r>
              <a:rPr lang="en-US" sz="2000" b="1" dirty="0"/>
              <a:t>Define the Problem Clearly</a:t>
            </a:r>
            <a:r>
              <a:rPr lang="en-US" sz="2000" dirty="0"/>
              <a:t>: Difficulty in tracking medication stock levels, leading to either shortages or excess inventory.</a:t>
            </a:r>
          </a:p>
          <a:p>
            <a:r>
              <a:rPr lang="en-US" sz="2000" dirty="0"/>
              <a:t>•</a:t>
            </a:r>
            <a:r>
              <a:rPr lang="en-US" sz="2000" b="1" dirty="0"/>
              <a:t>Why is it Important?: </a:t>
            </a:r>
            <a:r>
              <a:rPr lang="en-US" sz="2000" dirty="0"/>
              <a:t>Ensures that medications are always available when needed, preventing treatment delays.</a:t>
            </a:r>
          </a:p>
          <a:p>
            <a:r>
              <a:rPr lang="en-US" sz="2000" dirty="0"/>
              <a:t>•</a:t>
            </a:r>
            <a:r>
              <a:rPr lang="en-US" sz="2000" b="1" dirty="0"/>
              <a:t>Expected Impact of Solving This Problem: </a:t>
            </a:r>
            <a:r>
              <a:rPr lang="en-US" sz="2000" dirty="0"/>
              <a:t>Optimized inventory, ensuring that required medications are available without waste or shortage.</a:t>
            </a:r>
          </a:p>
          <a:p>
            <a:endParaRPr lang="en-US" sz="2000" b="1" dirty="0"/>
          </a:p>
          <a:p>
            <a:r>
              <a:rPr lang="en-US" sz="2000" b="1" dirty="0"/>
              <a:t>2. Medicine Expiration Tracking</a:t>
            </a:r>
          </a:p>
          <a:p>
            <a:r>
              <a:rPr lang="en-US" sz="2000" dirty="0"/>
              <a:t>•</a:t>
            </a:r>
            <a:r>
              <a:rPr lang="en-US" sz="2000" b="1" dirty="0"/>
              <a:t>Define the Problem Clearly: </a:t>
            </a:r>
            <a:r>
              <a:rPr lang="en-US" sz="2000" dirty="0"/>
              <a:t>Medications may expire without proper tracking, risking the administration of expired drugs.</a:t>
            </a:r>
          </a:p>
          <a:p>
            <a:r>
              <a:rPr lang="en-US" sz="2000" dirty="0"/>
              <a:t>•</a:t>
            </a:r>
            <a:r>
              <a:rPr lang="en-US" sz="2000" b="1" dirty="0"/>
              <a:t>Why is it Important?: </a:t>
            </a:r>
            <a:r>
              <a:rPr lang="en-US" sz="2000" dirty="0"/>
              <a:t>Using expired medications can cause harm to animals and result in ineffective treatment.</a:t>
            </a:r>
          </a:p>
          <a:p>
            <a:r>
              <a:rPr lang="en-US" sz="2000" dirty="0"/>
              <a:t>•</a:t>
            </a:r>
            <a:r>
              <a:rPr lang="en-US" sz="2000" b="1" dirty="0"/>
              <a:t>Expected Impact of Solving This Problem: </a:t>
            </a:r>
            <a:r>
              <a:rPr lang="en-US" sz="2000" dirty="0"/>
              <a:t>Safer treatments, preventing the risk of expired medication usage and ensuring effective care.</a:t>
            </a:r>
            <a:endParaRPr lang="en-IN" sz="2000" dirty="0"/>
          </a:p>
        </p:txBody>
      </p:sp>
    </p:spTree>
    <p:extLst>
      <p:ext uri="{BB962C8B-B14F-4D97-AF65-F5344CB8AC3E}">
        <p14:creationId xmlns:p14="http://schemas.microsoft.com/office/powerpoint/2010/main" val="10473292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8D841B-74CA-DD08-DC57-2744796991CE}"/>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EAC2900B-3645-9BD6-81D9-B808969A6610}"/>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pic>
        <p:nvPicPr>
          <p:cNvPr id="9" name="Picture 8">
            <a:extLst>
              <a:ext uri="{FF2B5EF4-FFF2-40B4-BE49-F238E27FC236}">
                <a16:creationId xmlns:a16="http://schemas.microsoft.com/office/drawing/2014/main" id="{006947D3-B53B-9D95-1C04-7E3AA0B640B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45C40F21-AABC-DFB9-90B1-AD1CF565BB7B}"/>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428000CC-C39B-4200-8F80-30B288C9C5E6}"/>
              </a:ext>
            </a:extLst>
          </p:cNvPr>
          <p:cNvSpPr txBox="1"/>
          <p:nvPr/>
        </p:nvSpPr>
        <p:spPr>
          <a:xfrm>
            <a:off x="467544" y="447636"/>
            <a:ext cx="8136904" cy="5324535"/>
          </a:xfrm>
          <a:prstGeom prst="rect">
            <a:avLst/>
          </a:prstGeom>
          <a:noFill/>
        </p:spPr>
        <p:txBody>
          <a:bodyPr wrap="square">
            <a:spAutoFit/>
          </a:bodyPr>
          <a:lstStyle/>
          <a:p>
            <a:r>
              <a:rPr lang="en-US" sz="2000" dirty="0"/>
              <a:t>3. </a:t>
            </a:r>
            <a:r>
              <a:rPr lang="en-US" sz="2000" b="1" dirty="0"/>
              <a:t>Fragmented Record-Keeping</a:t>
            </a:r>
          </a:p>
          <a:p>
            <a:r>
              <a:rPr lang="en-US" sz="2000" b="1" dirty="0"/>
              <a:t>•Define the Problem </a:t>
            </a:r>
            <a:r>
              <a:rPr lang="en-US" sz="2000" dirty="0"/>
              <a:t>Clearly: Animal medical histories are disorganized, making it difficult to retrieve accurate records.</a:t>
            </a:r>
          </a:p>
          <a:p>
            <a:r>
              <a:rPr lang="en-US" sz="2000" dirty="0"/>
              <a:t>•</a:t>
            </a:r>
            <a:r>
              <a:rPr lang="en-US" sz="2000" b="1" dirty="0"/>
              <a:t>Why is it Important?: </a:t>
            </a:r>
            <a:r>
              <a:rPr lang="en-US" sz="2000" dirty="0"/>
              <a:t>Disorganized records can lead to errors in diagnosis and treatment.</a:t>
            </a:r>
          </a:p>
          <a:p>
            <a:r>
              <a:rPr lang="en-US" sz="2000" dirty="0"/>
              <a:t>•</a:t>
            </a:r>
            <a:r>
              <a:rPr lang="en-US" sz="2000" b="1" dirty="0"/>
              <a:t>Expected Impact of Solving This Problem: </a:t>
            </a:r>
            <a:r>
              <a:rPr lang="en-US" sz="2000" dirty="0"/>
              <a:t>Easier and faster access to comprehensive medical records, improving treatment accuracy.</a:t>
            </a:r>
          </a:p>
          <a:p>
            <a:endParaRPr lang="en-US" sz="2000" dirty="0"/>
          </a:p>
          <a:p>
            <a:r>
              <a:rPr lang="en-US" sz="2000" dirty="0"/>
              <a:t>4. </a:t>
            </a:r>
            <a:r>
              <a:rPr lang="en-US" sz="2000" b="1" dirty="0"/>
              <a:t>Manual Monitoring</a:t>
            </a:r>
          </a:p>
          <a:p>
            <a:r>
              <a:rPr lang="en-US" sz="2000" b="1" dirty="0"/>
              <a:t>•Define the Problem Clearly: </a:t>
            </a:r>
            <a:r>
              <a:rPr lang="en-US" sz="2000" dirty="0"/>
              <a:t>Dependence on manual tracking for medication stock, expiration dates, and animal records increases the chance of human error.</a:t>
            </a:r>
          </a:p>
          <a:p>
            <a:r>
              <a:rPr lang="en-US" sz="2000" dirty="0"/>
              <a:t>•</a:t>
            </a:r>
            <a:r>
              <a:rPr lang="en-US" sz="2000" b="1" dirty="0"/>
              <a:t>Why is it Important?: </a:t>
            </a:r>
            <a:r>
              <a:rPr lang="en-US" sz="2000" dirty="0"/>
              <a:t>Manual systems are prone to mistakes, which can lead to treatment errors or missed inventory updates.</a:t>
            </a:r>
          </a:p>
          <a:p>
            <a:r>
              <a:rPr lang="en-US" sz="2000" dirty="0"/>
              <a:t>•</a:t>
            </a:r>
            <a:r>
              <a:rPr lang="en-US" sz="2000" b="1" dirty="0"/>
              <a:t>Expected Impact of Solving This Problem: </a:t>
            </a:r>
            <a:r>
              <a:rPr lang="en-US" sz="2000" dirty="0"/>
              <a:t>Improved accuracy and efficiency, reducing the chances of errors in inventory and record management</a:t>
            </a:r>
            <a:endParaRPr lang="en-IN" sz="2000" dirty="0"/>
          </a:p>
        </p:txBody>
      </p:sp>
    </p:spTree>
    <p:extLst>
      <p:ext uri="{BB962C8B-B14F-4D97-AF65-F5344CB8AC3E}">
        <p14:creationId xmlns:p14="http://schemas.microsoft.com/office/powerpoint/2010/main" val="17237014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p:cNvSpPr>
            <a:spLocks noChangeArrowheads="1"/>
          </p:cNvSpPr>
          <p:nvPr/>
        </p:nvSpPr>
        <p:spPr bwMode="auto">
          <a:xfrm>
            <a:off x="179512" y="151593"/>
            <a:ext cx="439248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Objectives</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0" y="1189637"/>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7B14FE12-9F36-1DAE-B174-062D669256D2}"/>
              </a:ext>
            </a:extLst>
          </p:cNvPr>
          <p:cNvSpPr txBox="1"/>
          <p:nvPr/>
        </p:nvSpPr>
        <p:spPr>
          <a:xfrm>
            <a:off x="200224" y="1086865"/>
            <a:ext cx="7560840" cy="5122941"/>
          </a:xfrm>
          <a:prstGeom prst="rect">
            <a:avLst/>
          </a:prstGeom>
          <a:noFill/>
        </p:spPr>
        <p:txBody>
          <a:bodyPr wrap="square">
            <a:spAutoFit/>
          </a:bodyPr>
          <a:lstStyle/>
          <a:p>
            <a:pPr>
              <a:lnSpc>
                <a:spcPct val="150000"/>
              </a:lnSpc>
            </a:pPr>
            <a:r>
              <a:rPr lang="en-US" sz="2000" b="1" dirty="0"/>
              <a:t>Main Goal of the Project </a:t>
            </a:r>
            <a:r>
              <a:rPr lang="en-US" sz="2000" dirty="0"/>
              <a:t>: To develop an integrated system for managing medication inventory and animal healthcare records, improving efficiency, accuracy, and communication in veterinary practices.</a:t>
            </a:r>
          </a:p>
          <a:p>
            <a:pPr>
              <a:lnSpc>
                <a:spcPct val="150000"/>
              </a:lnSpc>
            </a:pPr>
            <a:r>
              <a:rPr lang="en-US" sz="2000" b="1" dirty="0"/>
              <a:t>Specific Objectives:</a:t>
            </a:r>
          </a:p>
          <a:p>
            <a:pPr>
              <a:lnSpc>
                <a:spcPct val="150000"/>
              </a:lnSpc>
            </a:pPr>
            <a:r>
              <a:rPr lang="en-US" sz="2000" dirty="0"/>
              <a:t>1.Track and manage medication stock levels in real-time.</a:t>
            </a:r>
          </a:p>
          <a:p>
            <a:pPr>
              <a:lnSpc>
                <a:spcPct val="150000"/>
              </a:lnSpc>
            </a:pPr>
            <a:r>
              <a:rPr lang="en-US" sz="2000" dirty="0"/>
              <a:t>2.Monitor medication expiration dates and send timely notifications.</a:t>
            </a:r>
          </a:p>
          <a:p>
            <a:pPr>
              <a:lnSpc>
                <a:spcPct val="150000"/>
              </a:lnSpc>
            </a:pPr>
            <a:r>
              <a:rPr lang="en-US" sz="2000" dirty="0"/>
              <a:t>3.Organize and streamline animal medical records for easy access and management.</a:t>
            </a:r>
          </a:p>
          <a:p>
            <a:pPr>
              <a:lnSpc>
                <a:spcPct val="150000"/>
              </a:lnSpc>
            </a:pPr>
            <a:r>
              <a:rPr lang="en-US" sz="2000" dirty="0"/>
              <a:t>4.Automate communication and alerts regarding inventory and medical record updates.</a:t>
            </a:r>
            <a:endParaRPr lang="en-IN" sz="2000" dirty="0"/>
          </a:p>
        </p:txBody>
      </p:sp>
    </p:spTree>
    <p:extLst>
      <p:ext uri="{BB962C8B-B14F-4D97-AF65-F5344CB8AC3E}">
        <p14:creationId xmlns:p14="http://schemas.microsoft.com/office/powerpoint/2010/main" val="9574231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49063" y="-13692"/>
            <a:ext cx="9180512" cy="6885384"/>
          </a:xfrm>
        </p:spPr>
      </p:pic>
      <p:sp>
        <p:nvSpPr>
          <p:cNvPr id="5" name="Rectangle 1"/>
          <p:cNvSpPr>
            <a:spLocks noChangeArrowheads="1"/>
          </p:cNvSpPr>
          <p:nvPr/>
        </p:nvSpPr>
        <p:spPr bwMode="auto">
          <a:xfrm>
            <a:off x="179512" y="151593"/>
            <a:ext cx="857318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Methodology, Tools, and Techniques</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49424" y="6234823"/>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44FD2DEC-853B-1F58-B958-D38FBE8F7014}"/>
              </a:ext>
            </a:extLst>
          </p:cNvPr>
          <p:cNvSpPr txBox="1"/>
          <p:nvPr/>
        </p:nvSpPr>
        <p:spPr>
          <a:xfrm>
            <a:off x="149424" y="1344098"/>
            <a:ext cx="7524328" cy="4524315"/>
          </a:xfrm>
          <a:prstGeom prst="rect">
            <a:avLst/>
          </a:prstGeom>
          <a:noFill/>
        </p:spPr>
        <p:txBody>
          <a:bodyPr wrap="square">
            <a:spAutoFit/>
          </a:bodyPr>
          <a:lstStyle/>
          <a:p>
            <a:pPr algn="just"/>
            <a:r>
              <a:rPr lang="en-US" b="1" dirty="0"/>
              <a:t>Approach Taken to Solve the Problem </a:t>
            </a:r>
            <a:r>
              <a:rPr lang="en-US" dirty="0"/>
              <a:t>: The project uses an integrated system to automate and streamline the management of medication inventory and animal healthcare records. The system tracks medication stock and expiration dates, organizes medical histories, and sends automated alerts, ensuring better management and timely decision-making</a:t>
            </a:r>
          </a:p>
          <a:p>
            <a:pPr algn="just"/>
            <a:r>
              <a:rPr lang="en-US" b="1" dirty="0"/>
              <a:t>Tools, Software, and Techniques Used</a:t>
            </a:r>
            <a:r>
              <a:rPr lang="en-US" dirty="0"/>
              <a:t>:</a:t>
            </a:r>
          </a:p>
          <a:p>
            <a:pPr algn="just"/>
            <a:r>
              <a:rPr lang="en-US" b="1" dirty="0"/>
              <a:t>1.C++: </a:t>
            </a:r>
            <a:r>
              <a:rPr lang="en-US" dirty="0"/>
              <a:t>For developing the core system, offering performance and efficiency for real-time tracking.</a:t>
            </a:r>
          </a:p>
          <a:p>
            <a:pPr algn="just"/>
            <a:r>
              <a:rPr lang="en-US" b="1" dirty="0"/>
              <a:t>2.MySQL: </a:t>
            </a:r>
            <a:r>
              <a:rPr lang="en-US" dirty="0"/>
              <a:t>To store and manage medication and animal data in a relational database, ensuring easy access and updates.</a:t>
            </a:r>
          </a:p>
          <a:p>
            <a:pPr algn="just"/>
            <a:r>
              <a:rPr lang="en-US" b="1" dirty="0"/>
              <a:t>3.HTML, CSS, JavaScript: </a:t>
            </a:r>
            <a:r>
              <a:rPr lang="en-US" dirty="0"/>
              <a:t>For creating an interactive and user-friendly web-based dashboard for administrators.</a:t>
            </a:r>
          </a:p>
          <a:p>
            <a:pPr algn="just"/>
            <a:r>
              <a:rPr lang="en-US" b="1" dirty="0"/>
              <a:t>4.C++ SMTP Library: </a:t>
            </a:r>
            <a:r>
              <a:rPr lang="en-US" dirty="0"/>
              <a:t>For sending automated email notifications about low stock and medication expiration.</a:t>
            </a:r>
          </a:p>
          <a:p>
            <a:pPr algn="just"/>
            <a:r>
              <a:rPr lang="en-US" b="1" dirty="0"/>
              <a:t>5.Object-Oriented Programming</a:t>
            </a:r>
            <a:r>
              <a:rPr lang="en-US" dirty="0"/>
              <a:t>: To manage animal records and medication inventory with modular and reusable code.</a:t>
            </a:r>
            <a:endParaRPr lang="en-IN" dirty="0"/>
          </a:p>
        </p:txBody>
      </p:sp>
    </p:spTree>
    <p:extLst>
      <p:ext uri="{BB962C8B-B14F-4D97-AF65-F5344CB8AC3E}">
        <p14:creationId xmlns:p14="http://schemas.microsoft.com/office/powerpoint/2010/main" val="32958122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EA3646-C212-F90E-158E-AC2035CF3CB4}"/>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F94C283D-AE8A-72B9-182E-8E30D7D64DAD}"/>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39464" y="0"/>
            <a:ext cx="9180512" cy="6885384"/>
          </a:xfrm>
        </p:spPr>
      </p:pic>
      <p:pic>
        <p:nvPicPr>
          <p:cNvPr id="9" name="Picture 8">
            <a:extLst>
              <a:ext uri="{FF2B5EF4-FFF2-40B4-BE49-F238E27FC236}">
                <a16:creationId xmlns:a16="http://schemas.microsoft.com/office/drawing/2014/main" id="{ED47BFB4-1238-4BB0-F04A-5D3457557BD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820C965F-48DE-5D9E-87BA-F55D79B3508D}"/>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22381C99-3D61-33C1-E314-EF4CED0F092E}"/>
              </a:ext>
            </a:extLst>
          </p:cNvPr>
          <p:cNvSpPr txBox="1"/>
          <p:nvPr/>
        </p:nvSpPr>
        <p:spPr>
          <a:xfrm>
            <a:off x="197272" y="919257"/>
            <a:ext cx="8604448" cy="4401205"/>
          </a:xfrm>
          <a:prstGeom prst="rect">
            <a:avLst/>
          </a:prstGeom>
          <a:noFill/>
        </p:spPr>
        <p:txBody>
          <a:bodyPr wrap="square">
            <a:spAutoFit/>
          </a:bodyPr>
          <a:lstStyle/>
          <a:p>
            <a:pPr algn="just"/>
            <a:r>
              <a:rPr lang="en-US" sz="2000" b="1" dirty="0"/>
              <a:t>Justification for Chosen Methods:</a:t>
            </a:r>
          </a:p>
          <a:p>
            <a:pPr algn="just"/>
            <a:endParaRPr lang="en-US" sz="2000" dirty="0"/>
          </a:p>
          <a:p>
            <a:pPr algn="just"/>
            <a:r>
              <a:rPr lang="en-US" sz="2000" dirty="0"/>
              <a:t>•</a:t>
            </a:r>
            <a:r>
              <a:rPr lang="en-US" sz="2000" b="1" dirty="0"/>
              <a:t>C++ </a:t>
            </a:r>
            <a:r>
              <a:rPr lang="en-US" sz="2000" dirty="0"/>
              <a:t>is selected for its high performance and control over system resources, crucial for real-time data processing.</a:t>
            </a:r>
          </a:p>
          <a:p>
            <a:pPr algn="just"/>
            <a:r>
              <a:rPr lang="en-US" sz="2000" dirty="0"/>
              <a:t>•</a:t>
            </a:r>
            <a:r>
              <a:rPr lang="en-US" sz="2000" b="1" dirty="0"/>
              <a:t>MySQL</a:t>
            </a:r>
            <a:r>
              <a:rPr lang="en-US" sz="2000" dirty="0"/>
              <a:t> is chosen for its reliability and ability to handle relational data efficiently, making it ideal for organizing large datasets such as medical histories and inventory records.</a:t>
            </a:r>
          </a:p>
          <a:p>
            <a:pPr algn="just"/>
            <a:r>
              <a:rPr lang="en-US" sz="2000" dirty="0"/>
              <a:t>•</a:t>
            </a:r>
            <a:r>
              <a:rPr lang="en-US" sz="2000" b="1" dirty="0"/>
              <a:t>Frontend technologies (HTML, CSS, JavaScript) </a:t>
            </a:r>
            <a:r>
              <a:rPr lang="en-US" sz="2000" dirty="0"/>
              <a:t>are used to build an intuitive, interactive interface, ensuring ease of use for administrators.</a:t>
            </a:r>
          </a:p>
          <a:p>
            <a:pPr algn="just"/>
            <a:r>
              <a:rPr lang="en-US" sz="2000" dirty="0"/>
              <a:t>•</a:t>
            </a:r>
            <a:r>
              <a:rPr lang="en-US" sz="2000" b="1" dirty="0"/>
              <a:t>SMTP Library </a:t>
            </a:r>
            <a:r>
              <a:rPr lang="en-US" sz="2000" dirty="0"/>
              <a:t>provides an automated communication system, reducing manual oversight and improving real-time notifications for critical issues.</a:t>
            </a:r>
          </a:p>
          <a:p>
            <a:pPr algn="just"/>
            <a:r>
              <a:rPr lang="en-US" sz="2000" dirty="0"/>
              <a:t>•</a:t>
            </a:r>
            <a:r>
              <a:rPr lang="en-US" sz="2000" b="1" dirty="0"/>
              <a:t>Object-Oriented Programming </a:t>
            </a:r>
            <a:r>
              <a:rPr lang="en-US" sz="2000" dirty="0"/>
              <a:t>supports the creation of scalable and maintainable code, simplifying the management of complex data structures like animal records and medications</a:t>
            </a:r>
            <a:r>
              <a:rPr lang="en-US" sz="2000" b="1" dirty="0"/>
              <a:t>.</a:t>
            </a:r>
            <a:endParaRPr lang="en-IN" sz="2000" dirty="0"/>
          </a:p>
        </p:txBody>
      </p:sp>
    </p:spTree>
    <p:extLst>
      <p:ext uri="{BB962C8B-B14F-4D97-AF65-F5344CB8AC3E}">
        <p14:creationId xmlns:p14="http://schemas.microsoft.com/office/powerpoint/2010/main" val="8700614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31989" y="-27384"/>
            <a:ext cx="9180512" cy="6885384"/>
          </a:xfrm>
        </p:spPr>
      </p:pic>
      <p:sp>
        <p:nvSpPr>
          <p:cNvPr id="5" name="Rectangle 1"/>
          <p:cNvSpPr>
            <a:spLocks noChangeArrowheads="1"/>
          </p:cNvSpPr>
          <p:nvPr/>
        </p:nvSpPr>
        <p:spPr bwMode="auto">
          <a:xfrm>
            <a:off x="177133" y="346645"/>
            <a:ext cx="828092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Methodology Flowchart</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15" name="Rectangle: Rounded Corners 14">
            <a:extLst>
              <a:ext uri="{FF2B5EF4-FFF2-40B4-BE49-F238E27FC236}">
                <a16:creationId xmlns:a16="http://schemas.microsoft.com/office/drawing/2014/main" id="{FFCE0894-F2DB-3F36-38A1-6EA037030E5F}"/>
              </a:ext>
            </a:extLst>
          </p:cNvPr>
          <p:cNvSpPr/>
          <p:nvPr/>
        </p:nvSpPr>
        <p:spPr>
          <a:xfrm>
            <a:off x="487129" y="1602207"/>
            <a:ext cx="2232248" cy="1224138"/>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START</a:t>
            </a:r>
          </a:p>
        </p:txBody>
      </p:sp>
      <p:sp>
        <p:nvSpPr>
          <p:cNvPr id="19" name="Rectangle: Rounded Corners 18">
            <a:extLst>
              <a:ext uri="{FF2B5EF4-FFF2-40B4-BE49-F238E27FC236}">
                <a16:creationId xmlns:a16="http://schemas.microsoft.com/office/drawing/2014/main" id="{A51A4368-FB8B-489F-0F8F-278F6033065E}"/>
              </a:ext>
            </a:extLst>
          </p:cNvPr>
          <p:cNvSpPr/>
          <p:nvPr/>
        </p:nvSpPr>
        <p:spPr>
          <a:xfrm>
            <a:off x="3563888" y="1651122"/>
            <a:ext cx="2448272" cy="1224135"/>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sz="1200" b="0" i="0" dirty="0">
              <a:solidFill>
                <a:srgbClr val="0D0D0D"/>
              </a:solidFill>
              <a:effectLst/>
              <a:latin typeface="ui-monospace"/>
            </a:endParaRPr>
          </a:p>
          <a:p>
            <a:pPr algn="ctr"/>
            <a:r>
              <a:rPr lang="en-IN" sz="1200" b="1" i="0" dirty="0">
                <a:solidFill>
                  <a:srgbClr val="0D0D0D"/>
                </a:solidFill>
                <a:effectLst/>
                <a:latin typeface="ui-monospace"/>
              </a:rPr>
              <a:t>Initialize System</a:t>
            </a:r>
          </a:p>
          <a:p>
            <a:pPr algn="ctr"/>
            <a:r>
              <a:rPr lang="en-IN" sz="1200" b="0" i="0" dirty="0">
                <a:solidFill>
                  <a:srgbClr val="0D0D0D"/>
                </a:solidFill>
                <a:effectLst/>
                <a:latin typeface="ui-monospace"/>
              </a:rPr>
              <a:t> </a:t>
            </a:r>
            <a:r>
              <a:rPr lang="en-IN" sz="1200" b="0" i="0" dirty="0">
                <a:solidFill>
                  <a:srgbClr val="4078F2"/>
                </a:solidFill>
                <a:effectLst/>
                <a:latin typeface="ui-monospace"/>
              </a:rPr>
              <a:t>-</a:t>
            </a:r>
            <a:r>
              <a:rPr lang="en-IN" sz="1200" b="0" i="0" dirty="0">
                <a:solidFill>
                  <a:srgbClr val="0D0D0D"/>
                </a:solidFill>
                <a:effectLst/>
                <a:latin typeface="ui-monospace"/>
              </a:rPr>
              <a:t> C++ for core system </a:t>
            </a:r>
          </a:p>
          <a:p>
            <a:pPr algn="ctr"/>
            <a:r>
              <a:rPr lang="en-IN" sz="1200" b="0" i="0" dirty="0">
                <a:solidFill>
                  <a:srgbClr val="4078F2"/>
                </a:solidFill>
                <a:effectLst/>
                <a:latin typeface="ui-monospace"/>
              </a:rPr>
              <a:t>-</a:t>
            </a:r>
            <a:r>
              <a:rPr lang="en-IN" sz="1200" b="0" i="0" dirty="0">
                <a:solidFill>
                  <a:srgbClr val="0D0D0D"/>
                </a:solidFill>
                <a:effectLst/>
                <a:latin typeface="ui-monospace"/>
              </a:rPr>
              <a:t> MySQL for database </a:t>
            </a:r>
          </a:p>
          <a:p>
            <a:pPr marL="171450" indent="-171450" algn="ctr">
              <a:buFontTx/>
              <a:buChar char="-"/>
            </a:pPr>
            <a:r>
              <a:rPr lang="en-IN" sz="1200" b="0" i="0" dirty="0">
                <a:solidFill>
                  <a:srgbClr val="0D0D0D"/>
                </a:solidFill>
                <a:effectLst/>
                <a:latin typeface="ui-monospace"/>
              </a:rPr>
              <a:t>HTML, CSS, JS for UI</a:t>
            </a:r>
          </a:p>
          <a:p>
            <a:pPr algn="ctr"/>
            <a:r>
              <a:rPr lang="en-IN" sz="1200" b="0" i="0" dirty="0">
                <a:solidFill>
                  <a:srgbClr val="4078F2"/>
                </a:solidFill>
                <a:effectLst/>
                <a:latin typeface="ui-monospace"/>
              </a:rPr>
              <a:t>-</a:t>
            </a:r>
            <a:r>
              <a:rPr lang="en-IN" sz="1200" b="0" i="0" dirty="0">
                <a:solidFill>
                  <a:srgbClr val="0D0D0D"/>
                </a:solidFill>
                <a:effectLst/>
                <a:latin typeface="ui-monospace"/>
              </a:rPr>
              <a:t> SMTP Library for emails</a:t>
            </a:r>
            <a:endParaRPr lang="en-IN" sz="1200" dirty="0"/>
          </a:p>
          <a:p>
            <a:pPr algn="ctr"/>
            <a:endParaRPr lang="en-IN" dirty="0"/>
          </a:p>
        </p:txBody>
      </p:sp>
      <p:sp>
        <p:nvSpPr>
          <p:cNvPr id="20" name="Rectangle: Rounded Corners 19">
            <a:extLst>
              <a:ext uri="{FF2B5EF4-FFF2-40B4-BE49-F238E27FC236}">
                <a16:creationId xmlns:a16="http://schemas.microsoft.com/office/drawing/2014/main" id="{621711DE-46C4-E3B5-49A2-DEF75BAE501F}"/>
              </a:ext>
            </a:extLst>
          </p:cNvPr>
          <p:cNvSpPr/>
          <p:nvPr/>
        </p:nvSpPr>
        <p:spPr>
          <a:xfrm>
            <a:off x="6876256" y="1628796"/>
            <a:ext cx="2160240" cy="1224134"/>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b="1" i="0" dirty="0">
                <a:solidFill>
                  <a:srgbClr val="0D0D0D"/>
                </a:solidFill>
                <a:effectLst/>
                <a:latin typeface="ui-monospace"/>
              </a:rPr>
              <a:t>Track Medication Stock</a:t>
            </a:r>
          </a:p>
          <a:p>
            <a:pPr algn="ctr"/>
            <a:r>
              <a:rPr lang="en-US" sz="1400" b="0" i="0" dirty="0">
                <a:solidFill>
                  <a:srgbClr val="0D0D0D"/>
                </a:solidFill>
                <a:effectLst/>
                <a:latin typeface="ui-monospace"/>
              </a:rPr>
              <a:t> </a:t>
            </a:r>
            <a:r>
              <a:rPr lang="en-US" sz="1400" b="0" i="0" dirty="0">
                <a:solidFill>
                  <a:srgbClr val="4078F2"/>
                </a:solidFill>
                <a:effectLst/>
                <a:latin typeface="ui-monospace"/>
              </a:rPr>
              <a:t>-</a:t>
            </a:r>
            <a:r>
              <a:rPr lang="en-US" sz="1400" b="0" i="0" dirty="0">
                <a:solidFill>
                  <a:srgbClr val="0D0D0D"/>
                </a:solidFill>
                <a:effectLst/>
                <a:latin typeface="ui-monospace"/>
              </a:rPr>
              <a:t> Real-time tracking </a:t>
            </a:r>
          </a:p>
          <a:p>
            <a:pPr algn="ctr"/>
            <a:r>
              <a:rPr lang="en-US" sz="1400" b="0" i="0" dirty="0">
                <a:solidFill>
                  <a:srgbClr val="4078F2"/>
                </a:solidFill>
                <a:effectLst/>
                <a:latin typeface="ui-monospace"/>
              </a:rPr>
              <a:t>-</a:t>
            </a:r>
            <a:r>
              <a:rPr lang="en-US" sz="1400" b="0" i="0" dirty="0">
                <a:solidFill>
                  <a:srgbClr val="0D0D0D"/>
                </a:solidFill>
                <a:effectLst/>
                <a:latin typeface="ui-monospace"/>
              </a:rPr>
              <a:t> Update inventory</a:t>
            </a:r>
            <a:endParaRPr lang="en-IN" sz="1400" dirty="0"/>
          </a:p>
        </p:txBody>
      </p:sp>
      <p:sp>
        <p:nvSpPr>
          <p:cNvPr id="22" name="Arrow: Right 21">
            <a:extLst>
              <a:ext uri="{FF2B5EF4-FFF2-40B4-BE49-F238E27FC236}">
                <a16:creationId xmlns:a16="http://schemas.microsoft.com/office/drawing/2014/main" id="{8E4944A3-6586-3A8D-28B3-27DBF22768F4}"/>
              </a:ext>
            </a:extLst>
          </p:cNvPr>
          <p:cNvSpPr/>
          <p:nvPr/>
        </p:nvSpPr>
        <p:spPr>
          <a:xfrm>
            <a:off x="2751810" y="2067517"/>
            <a:ext cx="812078" cy="293518"/>
          </a:xfrm>
          <a:prstGeom prst="rightArrow">
            <a:avLst>
              <a:gd name="adj1" fmla="val 43172"/>
              <a:gd name="adj2" fmla="val 50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Arrow: Right 22">
            <a:extLst>
              <a:ext uri="{FF2B5EF4-FFF2-40B4-BE49-F238E27FC236}">
                <a16:creationId xmlns:a16="http://schemas.microsoft.com/office/drawing/2014/main" id="{A8F1E4D0-02A3-416C-0D25-3ACCDF53C453}"/>
              </a:ext>
            </a:extLst>
          </p:cNvPr>
          <p:cNvSpPr/>
          <p:nvPr/>
        </p:nvSpPr>
        <p:spPr>
          <a:xfrm>
            <a:off x="6026071" y="2107039"/>
            <a:ext cx="792088" cy="21447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Rectangle: Rounded Corners 23">
            <a:extLst>
              <a:ext uri="{FF2B5EF4-FFF2-40B4-BE49-F238E27FC236}">
                <a16:creationId xmlns:a16="http://schemas.microsoft.com/office/drawing/2014/main" id="{F2C9B8DF-D519-DBB5-F09F-D0477484EDFC}"/>
              </a:ext>
            </a:extLst>
          </p:cNvPr>
          <p:cNvSpPr/>
          <p:nvPr/>
        </p:nvSpPr>
        <p:spPr>
          <a:xfrm>
            <a:off x="6804248" y="3429000"/>
            <a:ext cx="2339752" cy="1224131"/>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fr-FR" sz="1400" b="1" i="0" dirty="0">
                <a:solidFill>
                  <a:srgbClr val="0D0D0D"/>
                </a:solidFill>
                <a:effectLst/>
                <a:latin typeface="ui-monospace"/>
              </a:rPr>
              <a:t>Monitor Expiration Dates</a:t>
            </a:r>
            <a:r>
              <a:rPr lang="fr-FR" sz="1400" b="0" i="0" dirty="0">
                <a:solidFill>
                  <a:srgbClr val="0D0D0D"/>
                </a:solidFill>
                <a:effectLst/>
                <a:latin typeface="ui-monospace"/>
              </a:rPr>
              <a:t> </a:t>
            </a:r>
          </a:p>
          <a:p>
            <a:pPr algn="ctr"/>
            <a:r>
              <a:rPr lang="fr-FR" sz="1400" b="0" i="0" dirty="0">
                <a:solidFill>
                  <a:srgbClr val="0D0D0D"/>
                </a:solidFill>
                <a:effectLst/>
                <a:latin typeface="ui-monospace"/>
              </a:rPr>
              <a:t>-Check expiration dates</a:t>
            </a:r>
          </a:p>
          <a:p>
            <a:pPr algn="ctr"/>
            <a:r>
              <a:rPr lang="fr-FR" sz="1400" b="0" i="0" dirty="0">
                <a:solidFill>
                  <a:srgbClr val="0D0D0D"/>
                </a:solidFill>
                <a:effectLst/>
                <a:latin typeface="ui-monospace"/>
              </a:rPr>
              <a:t> </a:t>
            </a:r>
            <a:r>
              <a:rPr lang="fr-FR" sz="1400" b="0" i="0" dirty="0">
                <a:solidFill>
                  <a:srgbClr val="4078F2"/>
                </a:solidFill>
                <a:effectLst/>
                <a:latin typeface="ui-monospace"/>
              </a:rPr>
              <a:t>-</a:t>
            </a:r>
            <a:r>
              <a:rPr lang="fr-FR" sz="1400" b="0" i="0" dirty="0">
                <a:solidFill>
                  <a:srgbClr val="0D0D0D"/>
                </a:solidFill>
                <a:effectLst/>
                <a:latin typeface="ui-monospace"/>
              </a:rPr>
              <a:t> </a:t>
            </a:r>
            <a:r>
              <a:rPr lang="fr-FR" sz="1400" dirty="0">
                <a:solidFill>
                  <a:srgbClr val="0D0D0D"/>
                </a:solidFill>
                <a:latin typeface="ui-monospace"/>
              </a:rPr>
              <a:t> </a:t>
            </a:r>
            <a:r>
              <a:rPr lang="fr-FR" sz="1400" b="0" i="0" dirty="0" err="1">
                <a:solidFill>
                  <a:srgbClr val="0D0D0D"/>
                </a:solidFill>
                <a:effectLst/>
                <a:latin typeface="ui-monospace"/>
              </a:rPr>
              <a:t>Send</a:t>
            </a:r>
            <a:r>
              <a:rPr lang="fr-FR" sz="1400" dirty="0">
                <a:solidFill>
                  <a:srgbClr val="0D0D0D"/>
                </a:solidFill>
                <a:latin typeface="ui-monospace"/>
              </a:rPr>
              <a:t> </a:t>
            </a:r>
            <a:r>
              <a:rPr lang="fr-FR" sz="1400" b="0" i="0" dirty="0">
                <a:solidFill>
                  <a:srgbClr val="0D0D0D"/>
                </a:solidFill>
                <a:effectLst/>
                <a:latin typeface="ui-monospace"/>
              </a:rPr>
              <a:t>email </a:t>
            </a:r>
            <a:r>
              <a:rPr lang="fr-FR" sz="1400" b="0" i="0" dirty="0" err="1">
                <a:solidFill>
                  <a:srgbClr val="0D0D0D"/>
                </a:solidFill>
                <a:effectLst/>
                <a:latin typeface="ui-monospace"/>
              </a:rPr>
              <a:t>alert</a:t>
            </a:r>
            <a:endParaRPr lang="en-IN" sz="1400" dirty="0"/>
          </a:p>
          <a:p>
            <a:pPr algn="ctr"/>
            <a:endParaRPr lang="en-IN" sz="1400" dirty="0"/>
          </a:p>
        </p:txBody>
      </p:sp>
      <p:sp>
        <p:nvSpPr>
          <p:cNvPr id="25" name="Rectangle: Rounded Corners 24">
            <a:extLst>
              <a:ext uri="{FF2B5EF4-FFF2-40B4-BE49-F238E27FC236}">
                <a16:creationId xmlns:a16="http://schemas.microsoft.com/office/drawing/2014/main" id="{A94EFAE4-94F6-2136-4B31-9FEF26BE855E}"/>
              </a:ext>
            </a:extLst>
          </p:cNvPr>
          <p:cNvSpPr/>
          <p:nvPr/>
        </p:nvSpPr>
        <p:spPr>
          <a:xfrm>
            <a:off x="3509626" y="3429001"/>
            <a:ext cx="2592288" cy="122413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b="1" i="0" dirty="0">
                <a:solidFill>
                  <a:srgbClr val="0D0D0D"/>
                </a:solidFill>
                <a:effectLst/>
                <a:latin typeface="ui-monospace"/>
              </a:rPr>
              <a:t>Organize Medical Histories</a:t>
            </a:r>
          </a:p>
          <a:p>
            <a:pPr algn="ctr"/>
            <a:r>
              <a:rPr lang="en-US" sz="1400" b="0" i="0" dirty="0">
                <a:solidFill>
                  <a:srgbClr val="0D0D0D"/>
                </a:solidFill>
                <a:effectLst/>
                <a:latin typeface="ui-monospace"/>
              </a:rPr>
              <a:t> </a:t>
            </a:r>
            <a:r>
              <a:rPr lang="en-US" sz="1400" b="0" i="0" dirty="0">
                <a:solidFill>
                  <a:srgbClr val="4078F2"/>
                </a:solidFill>
                <a:effectLst/>
                <a:latin typeface="ui-monospace"/>
              </a:rPr>
              <a:t>-</a:t>
            </a:r>
            <a:r>
              <a:rPr lang="en-US" sz="1400" b="0" i="0" dirty="0">
                <a:solidFill>
                  <a:srgbClr val="0D0D0D"/>
                </a:solidFill>
                <a:effectLst/>
                <a:latin typeface="ui-monospace"/>
              </a:rPr>
              <a:t> Store animal records</a:t>
            </a:r>
          </a:p>
          <a:p>
            <a:pPr algn="ctr"/>
            <a:r>
              <a:rPr lang="en-US" sz="1400" b="0" i="0" dirty="0">
                <a:solidFill>
                  <a:srgbClr val="0D0D0D"/>
                </a:solidFill>
                <a:effectLst/>
                <a:latin typeface="ui-monospace"/>
              </a:rPr>
              <a:t> </a:t>
            </a:r>
            <a:r>
              <a:rPr lang="en-US" sz="1400" b="0" i="0" dirty="0">
                <a:solidFill>
                  <a:srgbClr val="4078F2"/>
                </a:solidFill>
                <a:effectLst/>
                <a:latin typeface="ui-monospace"/>
              </a:rPr>
              <a:t>-</a:t>
            </a:r>
            <a:r>
              <a:rPr lang="en-US" sz="1400" b="0" i="0" dirty="0">
                <a:solidFill>
                  <a:srgbClr val="0D0D0D"/>
                </a:solidFill>
                <a:effectLst/>
                <a:latin typeface="ui-monospace"/>
              </a:rPr>
              <a:t> Update medical history</a:t>
            </a:r>
            <a:endParaRPr lang="en-IN" sz="1400" dirty="0"/>
          </a:p>
        </p:txBody>
      </p:sp>
      <p:sp>
        <p:nvSpPr>
          <p:cNvPr id="26" name="Rectangle: Rounded Corners 25">
            <a:extLst>
              <a:ext uri="{FF2B5EF4-FFF2-40B4-BE49-F238E27FC236}">
                <a16:creationId xmlns:a16="http://schemas.microsoft.com/office/drawing/2014/main" id="{5D1E92D1-B183-FEE3-D189-3093A6ECA799}"/>
              </a:ext>
            </a:extLst>
          </p:cNvPr>
          <p:cNvSpPr/>
          <p:nvPr/>
        </p:nvSpPr>
        <p:spPr>
          <a:xfrm>
            <a:off x="539551" y="3415309"/>
            <a:ext cx="2232249" cy="1237822"/>
          </a:xfrm>
          <a:prstGeom prst="roundRect">
            <a:avLst>
              <a:gd name="adj" fmla="val 23022"/>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b="1" i="0" dirty="0">
                <a:solidFill>
                  <a:srgbClr val="0D0D0D"/>
                </a:solidFill>
                <a:effectLst/>
                <a:latin typeface="ui-monospace"/>
              </a:rPr>
              <a:t>Automated Alerts </a:t>
            </a:r>
          </a:p>
          <a:p>
            <a:pPr algn="ctr"/>
            <a:r>
              <a:rPr lang="en-US" sz="1400" b="0" i="0" dirty="0">
                <a:solidFill>
                  <a:srgbClr val="0D0D0D"/>
                </a:solidFill>
                <a:effectLst/>
                <a:latin typeface="ui-monospace"/>
              </a:rPr>
              <a:t>-Low stock notifications</a:t>
            </a:r>
          </a:p>
          <a:p>
            <a:pPr algn="ctr"/>
            <a:r>
              <a:rPr lang="en-US" sz="1400" b="0" i="0" dirty="0">
                <a:solidFill>
                  <a:srgbClr val="0D0D0D"/>
                </a:solidFill>
                <a:effectLst/>
                <a:latin typeface="ui-monospace"/>
              </a:rPr>
              <a:t> </a:t>
            </a:r>
            <a:r>
              <a:rPr lang="en-US" sz="1400" b="0" i="0" dirty="0">
                <a:solidFill>
                  <a:srgbClr val="4078F2"/>
                </a:solidFill>
                <a:effectLst/>
                <a:latin typeface="ui-monospace"/>
              </a:rPr>
              <a:t>-</a:t>
            </a:r>
            <a:r>
              <a:rPr lang="en-US" sz="1400" b="0" i="0" dirty="0">
                <a:solidFill>
                  <a:srgbClr val="0D0D0D"/>
                </a:solidFill>
                <a:effectLst/>
                <a:latin typeface="ui-monospace"/>
              </a:rPr>
              <a:t> Expiration alerts</a:t>
            </a:r>
            <a:endParaRPr lang="en-IN" sz="1400" dirty="0"/>
          </a:p>
        </p:txBody>
      </p:sp>
      <p:sp>
        <p:nvSpPr>
          <p:cNvPr id="27" name="Arrow: Down 26">
            <a:extLst>
              <a:ext uri="{FF2B5EF4-FFF2-40B4-BE49-F238E27FC236}">
                <a16:creationId xmlns:a16="http://schemas.microsoft.com/office/drawing/2014/main" id="{BFD35E70-CF14-B895-A167-79566678B285}"/>
              </a:ext>
            </a:extLst>
          </p:cNvPr>
          <p:cNvSpPr/>
          <p:nvPr/>
        </p:nvSpPr>
        <p:spPr>
          <a:xfrm>
            <a:off x="7956376" y="2884981"/>
            <a:ext cx="288031" cy="530327"/>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Arrow: Right 27">
            <a:extLst>
              <a:ext uri="{FF2B5EF4-FFF2-40B4-BE49-F238E27FC236}">
                <a16:creationId xmlns:a16="http://schemas.microsoft.com/office/drawing/2014/main" id="{49A0CD62-A09B-E747-5550-15EA853DD1AF}"/>
              </a:ext>
            </a:extLst>
          </p:cNvPr>
          <p:cNvSpPr/>
          <p:nvPr/>
        </p:nvSpPr>
        <p:spPr>
          <a:xfrm rot="10800000">
            <a:off x="6129044" y="3949893"/>
            <a:ext cx="648073" cy="21447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 name="Arrow: Right 28">
            <a:extLst>
              <a:ext uri="{FF2B5EF4-FFF2-40B4-BE49-F238E27FC236}">
                <a16:creationId xmlns:a16="http://schemas.microsoft.com/office/drawing/2014/main" id="{ECB9910F-6782-A45E-5559-7A423F0A31A7}"/>
              </a:ext>
            </a:extLst>
          </p:cNvPr>
          <p:cNvSpPr/>
          <p:nvPr/>
        </p:nvSpPr>
        <p:spPr>
          <a:xfrm rot="10800000">
            <a:off x="2794746" y="3933828"/>
            <a:ext cx="648073" cy="21447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Rectangle: Rounded Corners 29">
            <a:extLst>
              <a:ext uri="{FF2B5EF4-FFF2-40B4-BE49-F238E27FC236}">
                <a16:creationId xmlns:a16="http://schemas.microsoft.com/office/drawing/2014/main" id="{1B9B7F52-4639-F0C2-122E-AF420995EB9F}"/>
              </a:ext>
            </a:extLst>
          </p:cNvPr>
          <p:cNvSpPr/>
          <p:nvPr/>
        </p:nvSpPr>
        <p:spPr>
          <a:xfrm>
            <a:off x="539551" y="5373216"/>
            <a:ext cx="2179826" cy="936104"/>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END</a:t>
            </a:r>
          </a:p>
        </p:txBody>
      </p:sp>
      <p:sp>
        <p:nvSpPr>
          <p:cNvPr id="31" name="Arrow: Down 30">
            <a:extLst>
              <a:ext uri="{FF2B5EF4-FFF2-40B4-BE49-F238E27FC236}">
                <a16:creationId xmlns:a16="http://schemas.microsoft.com/office/drawing/2014/main" id="{D697CAB0-011E-58D1-D9CC-E945F9FD7F83}"/>
              </a:ext>
            </a:extLst>
          </p:cNvPr>
          <p:cNvSpPr/>
          <p:nvPr/>
        </p:nvSpPr>
        <p:spPr>
          <a:xfrm>
            <a:off x="1511659" y="4691378"/>
            <a:ext cx="288032" cy="648072"/>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0933716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p:cNvSpPr>
            <a:spLocks noChangeArrowheads="1"/>
          </p:cNvSpPr>
          <p:nvPr/>
        </p:nvSpPr>
        <p:spPr bwMode="auto">
          <a:xfrm>
            <a:off x="103414" y="298973"/>
            <a:ext cx="6844849"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Expected Results &amp; Impact</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28A0BA87-FFCE-0AD9-17CC-A811FB343CCE}"/>
              </a:ext>
            </a:extLst>
          </p:cNvPr>
          <p:cNvSpPr txBox="1"/>
          <p:nvPr/>
        </p:nvSpPr>
        <p:spPr>
          <a:xfrm>
            <a:off x="539552" y="1188589"/>
            <a:ext cx="7200800" cy="5016758"/>
          </a:xfrm>
          <a:prstGeom prst="rect">
            <a:avLst/>
          </a:prstGeom>
          <a:noFill/>
        </p:spPr>
        <p:txBody>
          <a:bodyPr wrap="square">
            <a:spAutoFit/>
          </a:bodyPr>
          <a:lstStyle/>
          <a:p>
            <a:pPr algn="just"/>
            <a:r>
              <a:rPr lang="en-IN" sz="2400" b="1" dirty="0"/>
              <a:t>Expected Results:</a:t>
            </a:r>
          </a:p>
          <a:p>
            <a:pPr algn="just">
              <a:buFont typeface="Arial" panose="020B0604020202020204" pitchFamily="34" charset="0"/>
              <a:buChar char="•"/>
            </a:pPr>
            <a:r>
              <a:rPr lang="en-US" sz="1600" dirty="0"/>
              <a:t>Workflow will be streamlined for more efficient and informed decision-making in animal care.</a:t>
            </a:r>
          </a:p>
          <a:p>
            <a:pPr algn="just">
              <a:buFont typeface="Arial" panose="020B0604020202020204" pitchFamily="34" charset="0"/>
              <a:buChar char="•"/>
            </a:pPr>
            <a:r>
              <a:rPr lang="en-US" sz="1600" dirty="0"/>
              <a:t> The project will effectively address the identified problems of medication stock management, medicine expiration tracking, fragmented record-keeping, and manual monitoring</a:t>
            </a:r>
            <a:r>
              <a:rPr lang="en-US" sz="2400" dirty="0"/>
              <a:t>.</a:t>
            </a:r>
          </a:p>
          <a:p>
            <a:pPr algn="just">
              <a:buFont typeface="Arial" panose="020B0604020202020204" pitchFamily="34" charset="0"/>
              <a:buChar char="•"/>
            </a:pPr>
            <a:r>
              <a:rPr lang="en-US" sz="2400" dirty="0"/>
              <a:t> </a:t>
            </a:r>
            <a:r>
              <a:rPr lang="en-US" sz="1600" dirty="0"/>
              <a:t>A working model of the integrated system, including a web-based dashboard for administrators.</a:t>
            </a:r>
            <a:endParaRPr lang="en-IN" sz="1600" dirty="0"/>
          </a:p>
          <a:p>
            <a:pPr algn="just"/>
            <a:r>
              <a:rPr lang="en-IN" sz="2400" b="1" dirty="0"/>
              <a:t>Impact:</a:t>
            </a:r>
          </a:p>
          <a:p>
            <a:pPr marL="285750" indent="-285750" algn="just">
              <a:buFont typeface="Arial" panose="020B0604020202020204" pitchFamily="34" charset="0"/>
              <a:buChar char="•"/>
            </a:pPr>
            <a:r>
              <a:rPr lang="en-US" sz="1600" dirty="0"/>
              <a:t>The project will contribute to the field of veterinary medicine by providing a comprehensive solution for managing medication inventory and animal healthcare records.</a:t>
            </a:r>
          </a:p>
          <a:p>
            <a:pPr marL="285750" indent="-285750" algn="just">
              <a:buFont typeface="Arial" panose="020B0604020202020204" pitchFamily="34" charset="0"/>
              <a:buChar char="•"/>
            </a:pPr>
            <a:r>
              <a:rPr lang="en-US" sz="1600" dirty="0"/>
              <a:t>Veterinarians and administrators will experience reduced workload and improved decision-making capabilities.</a:t>
            </a:r>
          </a:p>
          <a:p>
            <a:pPr marL="285750" indent="-285750" algn="just">
              <a:buFont typeface="Arial" panose="020B0604020202020204" pitchFamily="34" charset="0"/>
              <a:buChar char="•"/>
            </a:pPr>
            <a:r>
              <a:rPr lang="en-US" sz="1600" dirty="0"/>
              <a:t>The system can be extended to include additional features such as real-time tracking of animal health parameters and integration with other healthcare systems . Future developments could involve the use of machine learning algorithms to predict medication needs and optimize inventory further.</a:t>
            </a:r>
            <a:endParaRPr lang="en-IN" sz="1600" dirty="0"/>
          </a:p>
        </p:txBody>
      </p:sp>
    </p:spTree>
    <p:extLst>
      <p:ext uri="{BB962C8B-B14F-4D97-AF65-F5344CB8AC3E}">
        <p14:creationId xmlns:p14="http://schemas.microsoft.com/office/powerpoint/2010/main" val="2562604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5A90B0-DF45-D772-F2C2-4DA9C9459708}"/>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B8841DBC-268C-A507-A4A1-7C7360656340}"/>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1FEB11A7-55F7-BA44-4ABC-0E9514E1A407}"/>
              </a:ext>
            </a:extLst>
          </p:cNvPr>
          <p:cNvSpPr>
            <a:spLocks noChangeArrowheads="1"/>
          </p:cNvSpPr>
          <p:nvPr/>
        </p:nvSpPr>
        <p:spPr bwMode="auto">
          <a:xfrm>
            <a:off x="177133" y="346645"/>
            <a:ext cx="828092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References</a:t>
            </a: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914D0127-5B9D-1F1F-5AC4-DBE6A7B70CC0}"/>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E1913F5F-C1D7-7FAC-0C7C-5A9C9314CC4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519A5981-DFEE-F419-D91C-B08F4A8F860A}"/>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1401230E-A2B3-BF6C-96B3-DAEBFDD3C4B8}"/>
              </a:ext>
            </a:extLst>
          </p:cNvPr>
          <p:cNvSpPr txBox="1"/>
          <p:nvPr/>
        </p:nvSpPr>
        <p:spPr>
          <a:xfrm>
            <a:off x="611560" y="1278065"/>
            <a:ext cx="6624736" cy="4708981"/>
          </a:xfrm>
          <a:prstGeom prst="rect">
            <a:avLst/>
          </a:prstGeom>
          <a:noFill/>
        </p:spPr>
        <p:txBody>
          <a:bodyPr wrap="square">
            <a:spAutoFit/>
          </a:bodyPr>
          <a:lstStyle/>
          <a:p>
            <a:pPr marL="457200" indent="-457200" algn="just">
              <a:buFont typeface="Arial" panose="020B0604020202020204" pitchFamily="34" charset="0"/>
              <a:buChar char="•"/>
            </a:pPr>
            <a:r>
              <a:rPr lang="en-US" sz="2000" dirty="0" err="1"/>
              <a:t>Mahalle</a:t>
            </a:r>
            <a:r>
              <a:rPr lang="en-US" sz="2000" dirty="0"/>
              <a:t>, C., Katre, H., &amp; </a:t>
            </a:r>
            <a:r>
              <a:rPr lang="en-US" sz="2000" dirty="0" err="1"/>
              <a:t>Chaube</a:t>
            </a:r>
            <a:r>
              <a:rPr lang="en-US" sz="2000" dirty="0"/>
              <a:t>, A. (2021). Enhancing Animal Healthcare through Digital Record Keeping: A Study on Registered Animal Data Management. International Journal of Trend in Scientific Research and Development (IJTSRD). Retrieved from here.</a:t>
            </a:r>
          </a:p>
          <a:p>
            <a:pPr marL="457200" indent="-457200" algn="just">
              <a:buFont typeface="Arial" panose="020B0604020202020204" pitchFamily="34" charset="0"/>
              <a:buChar char="•"/>
            </a:pPr>
            <a:r>
              <a:rPr lang="en-IN" sz="2000" dirty="0" err="1"/>
              <a:t>Triet</a:t>
            </a:r>
            <a:r>
              <a:rPr lang="en-IN" sz="2000" dirty="0"/>
              <a:t>, M. N., Khanh, H. V., Bang, L. K., Khoa, T. D., Bao, Q. T., Trong, N. D. P., Loc, V. C. P., &amp; Hieu, D. M. (2024). Enhanced Security for Animal Health Records Using RSA-Encrypted NFTs on the Blockchain. In Lecture Notes in Computer Science (Vol. 14792). Springer. Retrieved from here.</a:t>
            </a:r>
          </a:p>
          <a:p>
            <a:pPr marL="457200" indent="-457200" algn="just">
              <a:buFont typeface="Arial" panose="020B0604020202020204" pitchFamily="34" charset="0"/>
              <a:buChar char="•"/>
            </a:pPr>
            <a:r>
              <a:rPr lang="en-US" sz="2000" dirty="0"/>
              <a:t>Molloy, T. (2023). Recent Technological Advancements in Veterinary Medicine. </a:t>
            </a:r>
            <a:r>
              <a:rPr lang="en-US" sz="2000" dirty="0" err="1"/>
              <a:t>VETport</a:t>
            </a:r>
            <a:r>
              <a:rPr lang="en-US" sz="2000" dirty="0"/>
              <a:t>. Retrieved from here.</a:t>
            </a:r>
          </a:p>
          <a:p>
            <a:pPr marL="457200" indent="-457200" algn="just">
              <a:buFont typeface="Arial" panose="020B0604020202020204" pitchFamily="34" charset="0"/>
              <a:buChar char="•"/>
            </a:pPr>
            <a:r>
              <a:rPr lang="en-US" sz="2000" dirty="0"/>
              <a:t>Brown, A. (2025). 8 Veterinary Technology Trends: Future Of Animal Care. Harvard. Retrieved from here.</a:t>
            </a:r>
            <a:endParaRPr lang="en-IN" sz="2000" dirty="0"/>
          </a:p>
        </p:txBody>
      </p:sp>
    </p:spTree>
    <p:extLst>
      <p:ext uri="{BB962C8B-B14F-4D97-AF65-F5344CB8AC3E}">
        <p14:creationId xmlns:p14="http://schemas.microsoft.com/office/powerpoint/2010/main" val="10153793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0" y="0"/>
            <a:ext cx="9180512" cy="6858000"/>
          </a:xfrm>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2" name="TextBox 1"/>
          <p:cNvSpPr txBox="1"/>
          <p:nvPr/>
        </p:nvSpPr>
        <p:spPr>
          <a:xfrm>
            <a:off x="1835696" y="2708920"/>
            <a:ext cx="5651034" cy="1200329"/>
          </a:xfrm>
          <a:prstGeom prst="rect">
            <a:avLst/>
          </a:prstGeom>
          <a:noFill/>
        </p:spPr>
        <p:txBody>
          <a:bodyPr wrap="none" rtlCol="0">
            <a:spAutoFit/>
          </a:bodyPr>
          <a:lstStyle/>
          <a:p>
            <a:pPr algn="ctr"/>
            <a:r>
              <a:rPr lang="en-US" sz="7200" dirty="0">
                <a:solidFill>
                  <a:srgbClr val="0060AA"/>
                </a:solidFill>
                <a:latin typeface="Garamond" pitchFamily="18" charset="0"/>
              </a:rPr>
              <a:t>THANK</a:t>
            </a:r>
            <a:r>
              <a:rPr lang="en-US" sz="7200" dirty="0">
                <a:latin typeface="Garamond" pitchFamily="18" charset="0"/>
              </a:rPr>
              <a:t> </a:t>
            </a:r>
            <a:r>
              <a:rPr lang="en-US" sz="7200" dirty="0">
                <a:solidFill>
                  <a:srgbClr val="E31E24"/>
                </a:solidFill>
                <a:latin typeface="Garamond" pitchFamily="18" charset="0"/>
              </a:rPr>
              <a:t>YOU</a:t>
            </a:r>
            <a:endParaRPr lang="en-IN" sz="7200" dirty="0">
              <a:latin typeface="Garamond" pitchFamily="18" charset="0"/>
            </a:endParaRPr>
          </a:p>
        </p:txBody>
      </p:sp>
    </p:spTree>
    <p:extLst>
      <p:ext uri="{BB962C8B-B14F-4D97-AF65-F5344CB8AC3E}">
        <p14:creationId xmlns:p14="http://schemas.microsoft.com/office/powerpoint/2010/main" val="38581981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6113</TotalTime>
  <Words>1317</Words>
  <Application>Microsoft Office PowerPoint</Application>
  <PresentationFormat>On-screen Show (4:3)</PresentationFormat>
  <Paragraphs>147</Paragraphs>
  <Slides>13</Slides>
  <Notes>11</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WEBDEV</dc:creator>
  <cp:lastModifiedBy>Ashmita Salaria</cp:lastModifiedBy>
  <cp:revision>350</cp:revision>
  <cp:lastPrinted>2022-09-05T08:43:44Z</cp:lastPrinted>
  <dcterms:created xsi:type="dcterms:W3CDTF">2020-01-16T09:05:56Z</dcterms:created>
  <dcterms:modified xsi:type="dcterms:W3CDTF">2025-02-10T16:48:40Z</dcterms:modified>
</cp:coreProperties>
</file>